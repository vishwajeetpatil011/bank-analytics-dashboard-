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5" r:id="rId5"/>
    <p:sldId id="266" r:id="rId6"/>
    <p:sldId id="267" r:id="rId7"/>
    <p:sldId id="268" r:id="rId8"/>
    <p:sldId id="282" r:id="rId9"/>
    <p:sldId id="259" r:id="rId10"/>
    <p:sldId id="283" r:id="rId11"/>
    <p:sldId id="257" r:id="rId12"/>
    <p:sldId id="262" r:id="rId13"/>
    <p:sldId id="261" r:id="rId14"/>
    <p:sldId id="258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60" r:id="rId24"/>
    <p:sldId id="27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AD2C4B-C1B7-41F4-A672-DA3F373FC9C8}" v="1" dt="2026-07-11T13:58:50.1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URDU VASANTHA POLISHETTI" userId="3c889b995909d9ee" providerId="LiveId" clId="{7B5F4FBF-662F-472E-B974-A7C151130AA2}"/>
    <pc:docChg chg="undo custSel addSld delSld modSld sldOrd">
      <pc:chgData name="LOURDU VASANTHA POLISHETTI" userId="3c889b995909d9ee" providerId="LiveId" clId="{7B5F4FBF-662F-472E-B974-A7C151130AA2}" dt="2026-07-11T14:09:58.666" v="39" actId="20577"/>
      <pc:docMkLst>
        <pc:docMk/>
      </pc:docMkLst>
      <pc:sldChg chg="modSp add del mod ord setBg">
        <pc:chgData name="LOURDU VASANTHA POLISHETTI" userId="3c889b995909d9ee" providerId="LiveId" clId="{7B5F4FBF-662F-472E-B974-A7C151130AA2}" dt="2026-07-11T14:09:24.418" v="29" actId="115"/>
        <pc:sldMkLst>
          <pc:docMk/>
          <pc:sldMk cId="1983238995" sldId="259"/>
        </pc:sldMkLst>
        <pc:spChg chg="mod">
          <ac:chgData name="LOURDU VASANTHA POLISHETTI" userId="3c889b995909d9ee" providerId="LiveId" clId="{7B5F4FBF-662F-472E-B974-A7C151130AA2}" dt="2026-07-11T14:09:14.158" v="27" actId="115"/>
          <ac:spMkLst>
            <pc:docMk/>
            <pc:sldMk cId="1983238995" sldId="259"/>
            <ac:spMk id="3" creationId="{C22EA96F-00FC-4540-B3AC-F0FA367D5FA6}"/>
          </ac:spMkLst>
        </pc:spChg>
        <pc:spChg chg="mod">
          <ac:chgData name="LOURDU VASANTHA POLISHETTI" userId="3c889b995909d9ee" providerId="LiveId" clId="{7B5F4FBF-662F-472E-B974-A7C151130AA2}" dt="2026-07-11T14:09:24.418" v="29" actId="115"/>
          <ac:spMkLst>
            <pc:docMk/>
            <pc:sldMk cId="1983238995" sldId="259"/>
            <ac:spMk id="5" creationId="{0670246E-9BC7-44E1-87BA-E3283061635F}"/>
          </ac:spMkLst>
        </pc:spChg>
      </pc:sldChg>
      <pc:sldChg chg="del">
        <pc:chgData name="LOURDU VASANTHA POLISHETTI" userId="3c889b995909d9ee" providerId="LiveId" clId="{7B5F4FBF-662F-472E-B974-A7C151130AA2}" dt="2026-07-11T13:58:34.093" v="0" actId="2696"/>
        <pc:sldMkLst>
          <pc:docMk/>
          <pc:sldMk cId="488038230" sldId="269"/>
        </pc:sldMkLst>
      </pc:sldChg>
      <pc:sldChg chg="del">
        <pc:chgData name="LOURDU VASANTHA POLISHETTI" userId="3c889b995909d9ee" providerId="LiveId" clId="{7B5F4FBF-662F-472E-B974-A7C151130AA2}" dt="2026-07-11T13:58:39.956" v="2" actId="2696"/>
        <pc:sldMkLst>
          <pc:docMk/>
          <pc:sldMk cId="4069922275" sldId="270"/>
        </pc:sldMkLst>
      </pc:sldChg>
      <pc:sldChg chg="del">
        <pc:chgData name="LOURDU VASANTHA POLISHETTI" userId="3c889b995909d9ee" providerId="LiveId" clId="{7B5F4FBF-662F-472E-B974-A7C151130AA2}" dt="2026-07-11T13:58:44.032" v="5" actId="47"/>
        <pc:sldMkLst>
          <pc:docMk/>
          <pc:sldMk cId="3254043831" sldId="271"/>
        </pc:sldMkLst>
      </pc:sldChg>
      <pc:sldChg chg="del">
        <pc:chgData name="LOURDU VASANTHA POLISHETTI" userId="3c889b995909d9ee" providerId="LiveId" clId="{7B5F4FBF-662F-472E-B974-A7C151130AA2}" dt="2026-07-11T13:58:45.175" v="6" actId="47"/>
        <pc:sldMkLst>
          <pc:docMk/>
          <pc:sldMk cId="641285430" sldId="272"/>
        </pc:sldMkLst>
      </pc:sldChg>
      <pc:sldChg chg="add del">
        <pc:chgData name="LOURDU VASANTHA POLISHETTI" userId="3c889b995909d9ee" providerId="LiveId" clId="{7B5F4FBF-662F-472E-B974-A7C151130AA2}" dt="2026-07-11T13:58:41.633" v="3" actId="47"/>
        <pc:sldMkLst>
          <pc:docMk/>
          <pc:sldMk cId="319974921" sldId="282"/>
        </pc:sldMkLst>
      </pc:sldChg>
      <pc:sldChg chg="modSp add mod ord setBg">
        <pc:chgData name="LOURDU VASANTHA POLISHETTI" userId="3c889b995909d9ee" providerId="LiveId" clId="{7B5F4FBF-662F-472E-B974-A7C151130AA2}" dt="2026-07-11T14:08:49.761" v="22" actId="115"/>
        <pc:sldMkLst>
          <pc:docMk/>
          <pc:sldMk cId="1433551169" sldId="282"/>
        </pc:sldMkLst>
        <pc:spChg chg="mod">
          <ac:chgData name="LOURDU VASANTHA POLISHETTI" userId="3c889b995909d9ee" providerId="LiveId" clId="{7B5F4FBF-662F-472E-B974-A7C151130AA2}" dt="2026-07-11T14:08:21.741" v="17" actId="115"/>
          <ac:spMkLst>
            <pc:docMk/>
            <pc:sldMk cId="1433551169" sldId="282"/>
            <ac:spMk id="3" creationId="{448BA7A7-6A09-7848-DA5A-CAFDDF84EC6E}"/>
          </ac:spMkLst>
        </pc:spChg>
        <pc:spChg chg="mod">
          <ac:chgData name="LOURDU VASANTHA POLISHETTI" userId="3c889b995909d9ee" providerId="LiveId" clId="{7B5F4FBF-662F-472E-B974-A7C151130AA2}" dt="2026-07-11T14:08:49.761" v="22" actId="115"/>
          <ac:spMkLst>
            <pc:docMk/>
            <pc:sldMk cId="1433551169" sldId="282"/>
            <ac:spMk id="9" creationId="{67D9A7B4-BCDB-46E8-B8F1-3CDBCC255861}"/>
          </ac:spMkLst>
        </pc:spChg>
      </pc:sldChg>
      <pc:sldChg chg="modSp add mod ord setBg">
        <pc:chgData name="LOURDU VASANTHA POLISHETTI" userId="3c889b995909d9ee" providerId="LiveId" clId="{7B5F4FBF-662F-472E-B974-A7C151130AA2}" dt="2026-07-11T14:09:58.666" v="39" actId="20577"/>
        <pc:sldMkLst>
          <pc:docMk/>
          <pc:sldMk cId="3254043831" sldId="283"/>
        </pc:sldMkLst>
        <pc:spChg chg="mod">
          <ac:chgData name="LOURDU VASANTHA POLISHETTI" userId="3c889b995909d9ee" providerId="LiveId" clId="{7B5F4FBF-662F-472E-B974-A7C151130AA2}" dt="2026-07-11T14:09:58.666" v="39" actId="20577"/>
          <ac:spMkLst>
            <pc:docMk/>
            <pc:sldMk cId="3254043831" sldId="283"/>
            <ac:spMk id="3" creationId="{9CAE2ABD-DFDC-4A17-BBCC-BD12861233B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CCFE0-D404-3A8F-9963-7D9901613F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0A38A2-5469-7A56-6440-E5186F31E3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7D8CC-7EF5-5B43-4352-5CC64DAEA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D6DFB-0AA1-4B68-8190-838CA84455E0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0DC4F-E28E-CF8E-2D05-4EFD07212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AE23F-60B4-1F6F-1463-204100714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ED839-72A8-46D4-9796-0BE7DCE81F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836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9463E-637F-882D-ABC9-ABCC27797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61D11-4D36-BB21-764B-23EB9B199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69C84-549B-3BF2-4333-C33040B75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D6DFB-0AA1-4B68-8190-838CA84455E0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BD0F3-97F3-A130-F6E7-A0D6FD15F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287AC-0787-14EB-DFDB-969819DE5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ED839-72A8-46D4-9796-0BE7DCE81F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3699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1AAAD-DC06-0C72-6898-628ADB90F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9D464C-86F0-12CE-6FD6-141BF5275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FD1F3-7AAD-7DD3-22A4-FA30936AD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D6DFB-0AA1-4B68-8190-838CA84455E0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9A2D1-218F-C379-3B03-F21DFC9F7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D0514-AEF1-FBEC-0D56-C07D1B930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ED839-72A8-46D4-9796-0BE7DCE81F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5294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AF927-10E4-8E1B-C713-46FB52E4A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DC3F4-06B2-9EF4-CB08-7A807AB392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1C4664-84C6-0374-099B-B6924849E7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5A8A27-C9B2-9CB1-2B82-48C0D7A42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D6DFB-0AA1-4B68-8190-838CA84455E0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554FFE-8347-D063-74B7-06EC01BC0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113753-3CCE-ED68-2ED0-8E8F12A02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ED839-72A8-46D4-9796-0BE7DCE81F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322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350B0-CF36-7D5D-3B7D-26AA48543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633407-6A61-662A-49D9-DA5D1A192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55F535-871B-A003-1C48-CCAEE07C5F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82C1B9-4772-F96B-5639-B10BC28D13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16D33-B647-D615-8119-88A4D404A9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DC32CD-D5C4-FBCC-C4DB-389E1FD74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D6DFB-0AA1-4B68-8190-838CA84455E0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013432-0018-307A-5B2A-952CEFD42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14C9C2-2471-BB27-96C9-C9C6AA680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ED839-72A8-46D4-9796-0BE7DCE81F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808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29478-F73C-25B3-1E31-B2FCE0340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DF6254-1583-9F73-C85A-5818FD7A1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D6DFB-0AA1-4B68-8190-838CA84455E0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A288B9-9391-5BF2-8A2E-73C19E42D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85284C-D8AF-E6BE-5FFB-0E713BAC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ED839-72A8-46D4-9796-0BE7DCE81F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251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1CE573-7789-DE48-B4B0-2A45A24D5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D6DFB-0AA1-4B68-8190-838CA84455E0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787259-1976-2A12-59CC-A4ED0AC19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188E11-E371-7765-7A4C-4040869B2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ED839-72A8-46D4-9796-0BE7DCE81F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4166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71A17-85FA-632A-1BD0-184648CCA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572A9-D0F1-A79D-91B0-4F80A3F72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D0BCC-E021-95B7-F722-69DD7EA10B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6EB8E6-FA1C-F061-E2D0-64393052D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D6DFB-0AA1-4B68-8190-838CA84455E0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B50EB3-6FC0-906F-520A-156A13711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8ECC7-28C3-5F1B-B722-78CCACF16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ED839-72A8-46D4-9796-0BE7DCE81F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8059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387CD-97C6-A1A4-D9B5-E3882ABD6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E85E8E-AB87-4784-7509-790F024319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4A0BAB-8931-9144-3B2B-2CE07DCFD3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A03548-956D-B18A-7ABF-5939530D0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D6DFB-0AA1-4B68-8190-838CA84455E0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B13E24-02EC-A6A4-2519-5959ED181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78C58E-0F35-C43B-3A2C-43CA7F1B9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ED839-72A8-46D4-9796-0BE7DCE81F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2355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17EFF-A7D9-0704-BFB5-8F341C6E4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7D3C96-813F-2159-98A3-246009E77F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879F2-DBB2-B7AB-C2F4-958F62224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D6DFB-0AA1-4B68-8190-838CA84455E0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46970-5AAF-B955-7078-EEF4D5D0D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DB4D0-DBE3-0847-EEE8-45FCE03F5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ED839-72A8-46D4-9796-0BE7DCE81F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0836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C63425-95FB-9217-8A6E-3F916CB9A1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1B7541-4017-B897-6992-DA31E755FB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3FBF8-3C6C-9A5D-5568-654FB822A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D6DFB-0AA1-4B68-8190-838CA84455E0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D0A83-8D0D-37B9-BAA7-3D2F6CBBF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9E6F4-500A-A34E-ADD2-D098C19C0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ED839-72A8-46D4-9796-0BE7DCE81F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052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A9762D-6EEA-06AE-48AB-3B4C8D694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CD46A0-C8BD-2B26-9591-65D96C39CF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B29FD-FE14-E30D-446D-897D647197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6D6DFB-0AA1-4B68-8190-838CA84455E0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388EA-8768-DFB8-8ED6-8BEA74CE82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020F3-0643-1E4E-5DA1-AD8B844F4B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3ED839-72A8-46D4-9796-0BE7DCE81F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333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88F71-1146-8C4E-CF25-A7AE72CB12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57083"/>
            <a:ext cx="9144000" cy="1130557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2">
                    <a:lumMod val="90000"/>
                    <a:lumOff val="10000"/>
                  </a:schemeClr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BANK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55E75-E097-C3B1-1190-D1311775E6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51123" y="2861188"/>
            <a:ext cx="6744929" cy="2979174"/>
          </a:xfrm>
        </p:spPr>
        <p:txBody>
          <a:bodyPr>
            <a:normAutofit/>
          </a:bodyPr>
          <a:lstStyle/>
          <a:p>
            <a:pPr algn="l"/>
            <a:r>
              <a:rPr lang="en-IN" sz="2800" b="1" i="1" u="sng" dirty="0">
                <a:solidFill>
                  <a:schemeClr val="tx2">
                    <a:lumMod val="90000"/>
                    <a:lumOff val="10000"/>
                  </a:schemeClr>
                </a:solidFill>
                <a:latin typeface="Segoe UI Semibold" panose="020B0702040204020203" pitchFamily="34" charset="0"/>
                <a:ea typeface="Calibri Light" panose="020F0302020204030204" pitchFamily="34" charset="0"/>
                <a:cs typeface="Segoe UI Semibold" panose="020B0702040204020203" pitchFamily="34" charset="0"/>
              </a:rPr>
              <a:t>Group 3:</a:t>
            </a:r>
          </a:p>
          <a:p>
            <a:pPr marL="457200" indent="-457200" algn="just">
              <a:buAutoNum type="arabicPeriod"/>
            </a:pPr>
            <a:r>
              <a:rPr lang="en-IN" sz="2500" i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egoe UI Variable Small" pitchFamily="2" charset="0"/>
                <a:ea typeface="Calibri Light" panose="020F0302020204030204" pitchFamily="34" charset="0"/>
                <a:cs typeface="Calibri Light" panose="020F0302020204030204" pitchFamily="34" charset="0"/>
              </a:rPr>
              <a:t>Polishetti</a:t>
            </a:r>
            <a:r>
              <a:rPr lang="en-IN" sz="2500" i="1" dirty="0">
                <a:solidFill>
                  <a:schemeClr val="tx2">
                    <a:lumMod val="90000"/>
                    <a:lumOff val="10000"/>
                  </a:schemeClr>
                </a:solidFill>
                <a:latin typeface="Segoe UI Variable Small" pitchFamily="2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N" sz="2500" i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egoe UI Variable Small" pitchFamily="2" charset="0"/>
                <a:ea typeface="Calibri Light" panose="020F0302020204030204" pitchFamily="34" charset="0"/>
                <a:cs typeface="Calibri Light" panose="020F0302020204030204" pitchFamily="34" charset="0"/>
              </a:rPr>
              <a:t>Lourdu</a:t>
            </a:r>
            <a:r>
              <a:rPr lang="en-IN" sz="2500" i="1" dirty="0">
                <a:solidFill>
                  <a:schemeClr val="tx2">
                    <a:lumMod val="90000"/>
                    <a:lumOff val="10000"/>
                  </a:schemeClr>
                </a:solidFill>
                <a:latin typeface="Segoe UI Variable Small" pitchFamily="2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N" sz="2500" i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egoe UI Variable Small" pitchFamily="2" charset="0"/>
                <a:ea typeface="Calibri Light" panose="020F0302020204030204" pitchFamily="34" charset="0"/>
                <a:cs typeface="Calibri Light" panose="020F0302020204030204" pitchFamily="34" charset="0"/>
              </a:rPr>
              <a:t>Vasantha</a:t>
            </a:r>
            <a:endParaRPr lang="en-IN" sz="2500" i="1" dirty="0">
              <a:solidFill>
                <a:schemeClr val="tx2">
                  <a:lumMod val="90000"/>
                  <a:lumOff val="10000"/>
                </a:schemeClr>
              </a:solidFill>
              <a:latin typeface="Segoe UI Variable Small" pitchFamily="2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indent="-457200" algn="just">
              <a:buAutoNum type="arabicPeriod"/>
            </a:pPr>
            <a:r>
              <a:rPr lang="en-IN" sz="2500" i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egoe UI Variable Small" pitchFamily="2" charset="0"/>
                <a:ea typeface="Calibri Light" panose="020F0302020204030204" pitchFamily="34" charset="0"/>
                <a:cs typeface="Calibri Light" panose="020F0302020204030204" pitchFamily="34" charset="0"/>
              </a:rPr>
              <a:t>Mochapalli</a:t>
            </a:r>
            <a:r>
              <a:rPr lang="en-IN" sz="2500" i="1" dirty="0">
                <a:solidFill>
                  <a:schemeClr val="tx2">
                    <a:lumMod val="90000"/>
                    <a:lumOff val="10000"/>
                  </a:schemeClr>
                </a:solidFill>
                <a:latin typeface="Segoe UI Variable Small" pitchFamily="2" charset="0"/>
                <a:ea typeface="Calibri Light" panose="020F0302020204030204" pitchFamily="34" charset="0"/>
                <a:cs typeface="Calibri Light" panose="020F0302020204030204" pitchFamily="34" charset="0"/>
              </a:rPr>
              <a:t> Jagannath</a:t>
            </a:r>
          </a:p>
          <a:p>
            <a:pPr marL="457200" indent="-457200" algn="just">
              <a:buAutoNum type="arabicPeriod"/>
            </a:pPr>
            <a:r>
              <a:rPr lang="en-IN" sz="2500" i="1" dirty="0">
                <a:solidFill>
                  <a:schemeClr val="tx2">
                    <a:lumMod val="90000"/>
                    <a:lumOff val="10000"/>
                  </a:schemeClr>
                </a:solidFill>
                <a:latin typeface="Segoe UI Variable Small" pitchFamily="2" charset="0"/>
                <a:ea typeface="Calibri Light" panose="020F0302020204030204" pitchFamily="34" charset="0"/>
                <a:cs typeface="Calibri Light" panose="020F0302020204030204" pitchFamily="34" charset="0"/>
              </a:rPr>
              <a:t>Vinayak Shirke</a:t>
            </a:r>
          </a:p>
          <a:p>
            <a:pPr marL="457200" indent="-457200" algn="just">
              <a:buAutoNum type="arabicPeriod"/>
            </a:pPr>
            <a:r>
              <a:rPr lang="en-IN" sz="2500" i="1" dirty="0">
                <a:solidFill>
                  <a:schemeClr val="tx2">
                    <a:lumMod val="90000"/>
                    <a:lumOff val="10000"/>
                  </a:schemeClr>
                </a:solidFill>
                <a:latin typeface="Segoe UI Variable Small" pitchFamily="2" charset="0"/>
                <a:ea typeface="Calibri Light" panose="020F0302020204030204" pitchFamily="34" charset="0"/>
                <a:cs typeface="Calibri Light" panose="020F0302020204030204" pitchFamily="34" charset="0"/>
              </a:rPr>
              <a:t>Vishwajeet Patil</a:t>
            </a:r>
          </a:p>
          <a:p>
            <a:pPr marL="457200" indent="-457200" algn="l">
              <a:buAutoNum type="arabicPeriod"/>
            </a:pPr>
            <a:endParaRPr lang="en-IN" sz="3000" b="1" i="1" dirty="0">
              <a:solidFill>
                <a:schemeClr val="tx2">
                  <a:lumMod val="90000"/>
                  <a:lumOff val="10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6090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BC3F5-A68E-B0F6-63CA-9937FD92C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3942" y="414287"/>
            <a:ext cx="7833851" cy="834410"/>
          </a:xfrm>
        </p:spPr>
        <p:txBody>
          <a:bodyPr>
            <a:normAutofit/>
          </a:bodyPr>
          <a:lstStyle/>
          <a:p>
            <a:r>
              <a:rPr lang="en-IN" sz="4000" i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INDEX</a:t>
            </a:r>
            <a:endParaRPr lang="en-IN" i="1" dirty="0">
              <a:solidFill>
                <a:schemeClr val="tx2">
                  <a:lumMod val="90000"/>
                  <a:lumOff val="10000"/>
                </a:schemeClr>
              </a:solidFill>
              <a:latin typeface="Calibri BOLD" panose="020F0702030404030204" pitchFamily="34" charset="0"/>
              <a:ea typeface="Calibri BOLD" panose="020F0702030404030204" pitchFamily="34" charset="0"/>
              <a:cs typeface="Calibri BOLD" panose="020F07020304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DF0F50-660E-9AB7-91B9-D307DC2616BC}"/>
              </a:ext>
            </a:extLst>
          </p:cNvPr>
          <p:cNvSpPr/>
          <p:nvPr/>
        </p:nvSpPr>
        <p:spPr>
          <a:xfrm>
            <a:off x="3323302" y="1514168"/>
            <a:ext cx="5348749" cy="42806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en-IN" i="1" dirty="0"/>
              <a:t>Excel Dashboards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IN" i="1" dirty="0"/>
              <a:t>Power BI Dashboard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IN" i="1" dirty="0"/>
              <a:t>Tableau Dashboard 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IN" i="1" dirty="0"/>
              <a:t>SQL Syntaxes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IN" i="1" dirty="0"/>
              <a:t>Banking Analytics KPIs Insights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IN" i="1" dirty="0"/>
              <a:t>Bank Debit and Credit Data KPIs Insights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IN" i="1" dirty="0">
                <a:solidFill>
                  <a:schemeClr val="tx1"/>
                </a:solidFill>
              </a:rPr>
              <a:t>Conclusion, Challenges 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935859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A96B50-A8D0-25D9-878A-516906120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697" y="78658"/>
            <a:ext cx="10717161" cy="665561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28D58DE-84E8-FE4F-2617-005D9BDB5329}"/>
              </a:ext>
            </a:extLst>
          </p:cNvPr>
          <p:cNvSpPr/>
          <p:nvPr/>
        </p:nvSpPr>
        <p:spPr>
          <a:xfrm>
            <a:off x="245806" y="176981"/>
            <a:ext cx="835742" cy="646962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EXCEL DASHBOARD</a:t>
            </a:r>
          </a:p>
        </p:txBody>
      </p:sp>
    </p:spTree>
    <p:extLst>
      <p:ext uri="{BB962C8B-B14F-4D97-AF65-F5344CB8AC3E}">
        <p14:creationId xmlns:p14="http://schemas.microsoft.com/office/powerpoint/2010/main" val="3667578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2877B-FBB1-D00B-A59B-D71EAB23A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374E12-E6A1-0847-0604-2F95DFC34A69}"/>
              </a:ext>
            </a:extLst>
          </p:cNvPr>
          <p:cNvSpPr/>
          <p:nvPr/>
        </p:nvSpPr>
        <p:spPr>
          <a:xfrm>
            <a:off x="245806" y="176981"/>
            <a:ext cx="835742" cy="646962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EXCEL DASHBOARD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5E3015-A0C6-632F-099D-CEB5A1AC3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104" y="24088"/>
            <a:ext cx="10688089" cy="6622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005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2BAC7-9465-D30A-2EF3-F1E09D82D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1D40B8-2894-CD48-88C9-5944DDD0CD27}"/>
              </a:ext>
            </a:extLst>
          </p:cNvPr>
          <p:cNvSpPr/>
          <p:nvPr/>
        </p:nvSpPr>
        <p:spPr>
          <a:xfrm>
            <a:off x="245806" y="176981"/>
            <a:ext cx="707923" cy="646962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rtlCol="0" anchor="ctr"/>
          <a:lstStyle/>
          <a:p>
            <a:pPr algn="ctr"/>
            <a:r>
              <a:rPr lang="en-IN" sz="1900" b="1" dirty="0">
                <a:solidFill>
                  <a:schemeClr val="bg1"/>
                </a:solidFill>
              </a:rPr>
              <a:t>POWER BI DASHBOARD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D9D4B2-9297-2473-42A4-798003EC0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16" y="142567"/>
            <a:ext cx="10874478" cy="6538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252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36974-E1C8-8DD9-77E9-504335137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B55E523-253D-690A-E46B-83D9A7148071}"/>
              </a:ext>
            </a:extLst>
          </p:cNvPr>
          <p:cNvSpPr/>
          <p:nvPr/>
        </p:nvSpPr>
        <p:spPr>
          <a:xfrm>
            <a:off x="245806" y="176981"/>
            <a:ext cx="747252" cy="646962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rtlCol="0" anchor="ctr"/>
          <a:lstStyle/>
          <a:p>
            <a:pPr algn="ctr"/>
            <a:r>
              <a:rPr lang="en-IN" sz="1900" b="1" dirty="0">
                <a:solidFill>
                  <a:schemeClr val="bg1"/>
                </a:solidFill>
              </a:rPr>
              <a:t>POWER BI DASHBOARD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4A1395-6E91-A8B6-4499-3809730B9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877" y="108156"/>
            <a:ext cx="10954717" cy="663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483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2B1D4-DA1F-D9B9-1EA0-E8A315EDE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BCC82B-1E5C-D9A9-335F-5BA52E6533C9}"/>
              </a:ext>
            </a:extLst>
          </p:cNvPr>
          <p:cNvSpPr/>
          <p:nvPr/>
        </p:nvSpPr>
        <p:spPr>
          <a:xfrm>
            <a:off x="245806" y="88492"/>
            <a:ext cx="835742" cy="664660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rtlCol="0" anchor="ctr"/>
          <a:lstStyle/>
          <a:p>
            <a:pPr algn="ctr"/>
            <a:r>
              <a:rPr lang="en-IN" sz="1900" b="1" dirty="0">
                <a:solidFill>
                  <a:schemeClr val="bg1"/>
                </a:solidFill>
              </a:rPr>
              <a:t>TABLEAU DASHBOARD</a:t>
            </a:r>
          </a:p>
        </p:txBody>
      </p:sp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E8E913C5-3A7F-BA01-2A72-45D7CDD86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692" y="88492"/>
            <a:ext cx="10652502" cy="6646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983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B1FFE-C152-87C6-FC2B-5FFB601F8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099"/>
            <a:ext cx="10515600" cy="565607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B</a:t>
            </a:r>
            <a:r>
              <a:rPr lang="en-I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ANKING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BA7A7-6A09-7848-DA5A-CAFDDF84E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9559"/>
            <a:ext cx="4874442" cy="576448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1</a:t>
            </a:r>
            <a:r>
              <a:rPr lang="en-US" sz="1200" b="1" u="sng" dirty="0">
                <a:solidFill>
                  <a:schemeClr val="accent5">
                    <a:lumMod val="75000"/>
                  </a:schemeClr>
                </a:solidFill>
              </a:rPr>
              <a:t>.TOTAL CLIENTS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accent3">
                    <a:lumMod val="75000"/>
                  </a:schemeClr>
                </a:solidFill>
              </a:rPr>
              <a:t>SELECT COUNT(*) FROM dim_client;</a:t>
            </a:r>
            <a:endParaRPr lang="en-US" sz="12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2. </a:t>
            </a:r>
            <a:r>
              <a:rPr lang="en-US" sz="1200" b="1" u="sng" dirty="0">
                <a:solidFill>
                  <a:schemeClr val="accent5">
                    <a:lumMod val="75000"/>
                  </a:schemeClr>
                </a:solidFill>
              </a:rPr>
              <a:t>ACTIVE CLIENTS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accent3">
                    <a:lumMod val="75000"/>
                  </a:schemeClr>
                </a:solidFill>
              </a:rPr>
              <a:t>SELECT COUNT(DISTINCT Client_ID) FROM fact_loan WHERE Loan_Status NOT IN ('Default’);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3. </a:t>
            </a:r>
            <a:r>
              <a:rPr lang="en-US" sz="1200" b="1" u="sng" dirty="0">
                <a:solidFill>
                  <a:schemeClr val="accent5">
                    <a:lumMod val="75000"/>
                  </a:schemeClr>
                </a:solidFill>
              </a:rPr>
              <a:t>TOTAL LOAN AMOUNT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accent3">
                    <a:lumMod val="75000"/>
                  </a:schemeClr>
                </a:solidFill>
              </a:rPr>
              <a:t>SELECT CONCAT(ROUND(SUM(Loan_Amount) / 1000000, 1), 'M') AS Total_Loan FROM fact_loan;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4. </a:t>
            </a:r>
            <a:r>
              <a:rPr lang="en-US" sz="1200" b="1" u="sng" dirty="0">
                <a:solidFill>
                  <a:schemeClr val="accent5">
                    <a:lumMod val="75000"/>
                  </a:schemeClr>
                </a:solidFill>
              </a:rPr>
              <a:t>TOTAL FUNDED AMOUNT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accent3">
                    <a:lumMod val="75000"/>
                  </a:schemeClr>
                </a:solidFill>
              </a:rPr>
              <a:t>SELECT CONCAT(ROUND(SUM(Funded_Amount) / 1000000, 1), 'M') AS Total_Funded_Amount FROM fact_loan;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5. </a:t>
            </a:r>
            <a:r>
              <a:rPr lang="en-US" sz="1200" b="1" u="sng" dirty="0">
                <a:solidFill>
                  <a:schemeClr val="accent5">
                    <a:lumMod val="75000"/>
                  </a:schemeClr>
                </a:solidFill>
              </a:rPr>
              <a:t>AVERAGE LOAN SIZE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chemeClr val="accent3">
                    <a:lumMod val="75000"/>
                  </a:schemeClr>
                </a:solidFill>
              </a:rPr>
              <a:t>SELECT CONCAT(ROUND(AVG(Loan_Amount) / 1000000, 2), 'M') AS Avg_Loan_Amount FROM fact_loan;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6. </a:t>
            </a:r>
            <a:r>
              <a:rPr lang="en-US" sz="1200" b="1" u="sng" dirty="0">
                <a:solidFill>
                  <a:schemeClr val="accent5">
                    <a:lumMod val="75000"/>
                  </a:schemeClr>
                </a:solidFill>
              </a:rPr>
              <a:t>TOTAL REPAYMENTS COLLECTED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chemeClr val="accent3">
                    <a:lumMod val="75000"/>
                  </a:schemeClr>
                </a:solidFill>
              </a:rPr>
              <a:t>SELECT CONCAT(ROUND(SUM(Total_Pymnt) / 1000000, 1), 'M') AS Total_Payment FROM fact_repayment;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7. </a:t>
            </a:r>
            <a:r>
              <a:rPr lang="en-US" sz="1200" b="1" u="sng" dirty="0">
                <a:solidFill>
                  <a:schemeClr val="accent5">
                    <a:lumMod val="75000"/>
                  </a:schemeClr>
                </a:solidFill>
              </a:rPr>
              <a:t>PRINCIPAL RECOVERY RATE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chemeClr val="accent3">
                    <a:lumMod val="75000"/>
                  </a:schemeClr>
                </a:solidFill>
              </a:rPr>
              <a:t>SELECT CONCAT(ROUND((SUM(Total_Rec_Prncp) / SUM(Loan_Amount)) * 100, 2),'%') AS Recovery_Rate FROM fact_loan JOIN fact_repayment ON fact_loan.Account_ID = fact_repayment.Account_ID;</a:t>
            </a:r>
          </a:p>
          <a:p>
            <a:pPr marL="0" indent="0">
              <a:lnSpc>
                <a:spcPct val="120000"/>
              </a:lnSpc>
              <a:buNone/>
            </a:pPr>
            <a:endParaRPr lang="en-IN" sz="1200" dirty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2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7D9A7B4-BCDB-46E8-B8F1-3CDBCC255861}"/>
              </a:ext>
            </a:extLst>
          </p:cNvPr>
          <p:cNvSpPr txBox="1">
            <a:spLocks/>
          </p:cNvSpPr>
          <p:nvPr/>
        </p:nvSpPr>
        <p:spPr>
          <a:xfrm>
            <a:off x="6099140" y="774567"/>
            <a:ext cx="5254660" cy="57644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8. </a:t>
            </a:r>
            <a:r>
              <a:rPr lang="en-US" sz="1200" b="1" u="sng" dirty="0">
                <a:solidFill>
                  <a:schemeClr val="accent5">
                    <a:lumMod val="75000"/>
                  </a:schemeClr>
                </a:solidFill>
              </a:rPr>
              <a:t>INTEREST INCOME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chemeClr val="accent3">
                    <a:lumMod val="75000"/>
                  </a:schemeClr>
                </a:solidFill>
              </a:rPr>
              <a:t>SELECT CONCAT(ROUND(SUM(Total_Rrec_Int) / 1000000, 1), 'M') AS Total_Recovered_Interest FROM fact_repayment;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9. </a:t>
            </a:r>
            <a:r>
              <a:rPr lang="en-US" sz="1200" b="1" u="sng" dirty="0">
                <a:solidFill>
                  <a:schemeClr val="accent5">
                    <a:lumMod val="75000"/>
                  </a:schemeClr>
                </a:solidFill>
              </a:rPr>
              <a:t>DEFAULT RATE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accent3">
                    <a:lumMod val="75000"/>
                  </a:schemeClr>
                </a:solidFill>
              </a:rPr>
              <a:t>SELECT CONCAT(ROUND((SUM(CASE WHEN Is_Default_Loan = 'Y' THEN 1 ELSE 0 END) / COUNT(*)) * 100,2),'%') AS Default_Rate FROM fact_repayment;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10. </a:t>
            </a:r>
            <a:r>
              <a:rPr lang="en-US" sz="1200" b="1" u="sng" dirty="0">
                <a:solidFill>
                  <a:schemeClr val="accent5">
                    <a:lumMod val="75000"/>
                  </a:schemeClr>
                </a:solidFill>
              </a:rPr>
              <a:t>DELIQUENCY RATE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accent3">
                    <a:lumMod val="75000"/>
                  </a:schemeClr>
                </a:solidFill>
              </a:rPr>
              <a:t>SELECT CONCAT(ROUND((SUM(CASE WHEN Is_Delinquent_Loan = 'Y' THEN 1 ELSE 0 END) / COUNT(*)) * 100,2),'%') AS Delinquency_Rate FROM fact_repayment;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11. </a:t>
            </a:r>
            <a:r>
              <a:rPr lang="en-US" sz="1200" b="1" u="sng" dirty="0">
                <a:solidFill>
                  <a:schemeClr val="accent5">
                    <a:lumMod val="75000"/>
                  </a:schemeClr>
                </a:solidFill>
              </a:rPr>
              <a:t>ON TIME REPAYMENT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accent3">
                    <a:lumMod val="75000"/>
                  </a:schemeClr>
                </a:solidFill>
              </a:rPr>
              <a:t>SELECT CONCAT(ROUND((SUM(CASE WHEN Repayment_Behavior = 'On-Time' THEN 1 ELSE 0 END) / COUNT(*)) * 100,2),'%') AS On_Time_Repayment_Rate FROM fact_repayment;</a:t>
            </a:r>
          </a:p>
          <a:p>
            <a:pPr marL="0" indent="0">
              <a:buNone/>
            </a:pPr>
            <a:r>
              <a:rPr lang="en-IN" sz="1200" b="1" dirty="0">
                <a:solidFill>
                  <a:schemeClr val="accent5">
                    <a:lumMod val="75000"/>
                  </a:schemeClr>
                </a:solidFill>
              </a:rPr>
              <a:t>12. </a:t>
            </a:r>
            <a:r>
              <a:rPr lang="en-IN" sz="1200" b="1" u="sng" dirty="0">
                <a:solidFill>
                  <a:schemeClr val="accent5">
                    <a:lumMod val="75000"/>
                  </a:schemeClr>
                </a:solidFill>
              </a:rPr>
              <a:t>LOAN DISTRIBUTION BY BRANCH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accent3">
                    <a:lumMod val="75000"/>
                  </a:schemeClr>
                </a:solidFill>
              </a:rPr>
              <a:t>SELECT b.Branch_Name,CONCAT(ROUND(SUM(o.Loan_Amount) / 1000000, 1), 'M') AS Total_Loan FROM fact_loan o JOIN dim_branch b ON o.BranchID = b.BranchID GROUP BY b.Branch_Name ORDER BY SUM(o.Loan_Amount) DESC;</a:t>
            </a:r>
          </a:p>
        </p:txBody>
      </p:sp>
    </p:spTree>
    <p:extLst>
      <p:ext uri="{BB962C8B-B14F-4D97-AF65-F5344CB8AC3E}">
        <p14:creationId xmlns:p14="http://schemas.microsoft.com/office/powerpoint/2010/main" val="1433551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977B7-E4B0-447A-BCD6-35A1B128A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02141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CREDIT &amp; DEBIT DATA ANALYSIS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EA96F-00FC-4540-B3AC-F0FA367D5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1536"/>
            <a:ext cx="5006419" cy="54681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>
                    <a:lumMod val="50000"/>
                  </a:schemeClr>
                </a:solidFill>
              </a:rPr>
              <a:t>1.</a:t>
            </a:r>
            <a:r>
              <a:rPr lang="en-US" sz="1200" b="1" u="sng" dirty="0">
                <a:solidFill>
                  <a:schemeClr val="accent5">
                    <a:lumMod val="50000"/>
                  </a:schemeClr>
                </a:solidFill>
              </a:rPr>
              <a:t>TOTAL CREDIT AMOUNT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accent3">
                    <a:lumMod val="75000"/>
                  </a:schemeClr>
                </a:solidFill>
              </a:rPr>
              <a:t>SELECT CONCAT(ROUND(SUM(Amount) / 1000000, 1),'M') AS Total_Credit_Amount FROM debit_credit_csv WHERE Transaction_Type = 'Credit’;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accent5">
                    <a:lumMod val="50000"/>
                  </a:schemeClr>
                </a:solidFill>
              </a:rPr>
              <a:t>2. </a:t>
            </a:r>
            <a:r>
              <a:rPr lang="en-US" sz="1200" b="1" u="sng" dirty="0">
                <a:solidFill>
                  <a:schemeClr val="accent5">
                    <a:lumMod val="50000"/>
                  </a:schemeClr>
                </a:solidFill>
              </a:rPr>
              <a:t>TOTAL DEBIT AMOUNT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accent3">
                    <a:lumMod val="75000"/>
                  </a:schemeClr>
                </a:solidFill>
              </a:rPr>
              <a:t>SELECT CONCAT(ROUND(SUM(Amount) / 1000000, 1),'M') AS Total_Debit_Amount FROM debit_credit_csv WHERE Transaction_Type = 'Debit’;</a:t>
            </a:r>
          </a:p>
          <a:p>
            <a:pPr marL="0" indent="0">
              <a:buNone/>
            </a:pPr>
            <a:r>
              <a:rPr lang="en-IN" sz="1200" b="1" dirty="0">
                <a:solidFill>
                  <a:schemeClr val="accent5">
                    <a:lumMod val="50000"/>
                  </a:schemeClr>
                </a:solidFill>
              </a:rPr>
              <a:t>3. </a:t>
            </a:r>
            <a:r>
              <a:rPr lang="en-IN" sz="1200" b="1" u="sng" dirty="0">
                <a:solidFill>
                  <a:schemeClr val="accent5">
                    <a:lumMod val="50000"/>
                  </a:schemeClr>
                </a:solidFill>
              </a:rPr>
              <a:t>CREDIT AND DEBIT RATIO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accent3">
                    <a:lumMod val="75000"/>
                  </a:schemeClr>
                </a:solidFill>
              </a:rPr>
              <a:t>SELECT CONCAT(ROUND((SUM(Amount) /(SELECT SUM(Amount)FROM debit_credit_csv WHERE Transaction_Type = 'Debit')) * 100,2),'%') AS Credit_to_Debit_Ratio FROM debit_credit_csv WHERE Transaction_Type = 'Credit’;</a:t>
            </a:r>
          </a:p>
          <a:p>
            <a:pPr marL="0" indent="0">
              <a:buNone/>
            </a:pPr>
            <a:r>
              <a:rPr lang="en-IN" sz="1200" b="1" dirty="0">
                <a:solidFill>
                  <a:schemeClr val="accent5">
                    <a:lumMod val="50000"/>
                  </a:schemeClr>
                </a:solidFill>
              </a:rPr>
              <a:t>4. </a:t>
            </a:r>
            <a:r>
              <a:rPr lang="en-IN" sz="1200" b="1" u="sng" dirty="0">
                <a:solidFill>
                  <a:schemeClr val="accent5">
                    <a:lumMod val="50000"/>
                  </a:schemeClr>
                </a:solidFill>
              </a:rPr>
              <a:t>NET TRANSACTION CASHFLOW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accent3">
                    <a:lumMod val="75000"/>
                  </a:schemeClr>
                </a:solidFill>
              </a:rPr>
              <a:t>SELECT CONCAT(ROUND((SUM(Amount) - (SELECT SUM(Amount)FROM debit_credit_csv WHERE Transaction_Type = 'Debit')) / 1000000,1),'M') AS Net_Transaction_Amount FROM debit_credit_csv WHERE Transaction_Type = 'Credit’;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chemeClr val="accent5">
                    <a:lumMod val="50000"/>
                  </a:schemeClr>
                </a:solidFill>
              </a:rPr>
              <a:t>5. </a:t>
            </a:r>
            <a:r>
              <a:rPr lang="en-US" sz="1200" b="1" u="sng" dirty="0">
                <a:solidFill>
                  <a:schemeClr val="accent5">
                    <a:lumMod val="50000"/>
                  </a:schemeClr>
                </a:solidFill>
              </a:rPr>
              <a:t>ACCOUNT ACTIVE RATIO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chemeClr val="accent3">
                    <a:lumMod val="75000"/>
                  </a:schemeClr>
                </a:solidFill>
              </a:rPr>
              <a:t>SELECT CONCAT(ROUND((COUNT(Account_Number) / AVG(Balance))),'%') AS Account_Activity_Ratio FROM debit_credit_csv;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670246E-9BC7-44E1-87BA-E3283061635F}"/>
              </a:ext>
            </a:extLst>
          </p:cNvPr>
          <p:cNvSpPr txBox="1">
            <a:spLocks/>
          </p:cNvSpPr>
          <p:nvPr/>
        </p:nvSpPr>
        <p:spPr>
          <a:xfrm>
            <a:off x="5844618" y="1019666"/>
            <a:ext cx="5509181" cy="4900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chemeClr val="accent5">
                    <a:lumMod val="50000"/>
                  </a:schemeClr>
                </a:solidFill>
              </a:rPr>
              <a:t>6. </a:t>
            </a:r>
            <a:r>
              <a:rPr lang="en-US" sz="1200" b="1" u="sng" dirty="0">
                <a:solidFill>
                  <a:schemeClr val="accent5">
                    <a:lumMod val="50000"/>
                  </a:schemeClr>
                </a:solidFill>
              </a:rPr>
              <a:t>TOTAL TRANSACTION AMOUNT BY BRANCH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chemeClr val="accent3">
                    <a:lumMod val="75000"/>
                  </a:schemeClr>
                </a:solidFill>
              </a:rPr>
              <a:t>SELECT Branch,CONCAT(ROUND(SUM(Amount) / 1000000, 1),'M') AS Total_Transaction_Amount FROM debit_credit_csv GROUP BY Branch ORDER BY SUM(Amount) DESC;</a:t>
            </a:r>
            <a:endParaRPr lang="en-IN" sz="1200" b="1" dirty="0">
              <a:solidFill>
                <a:schemeClr val="accent3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chemeClr val="accent5">
                    <a:lumMod val="50000"/>
                  </a:schemeClr>
                </a:solidFill>
              </a:rPr>
              <a:t>7.</a:t>
            </a:r>
            <a:r>
              <a:rPr lang="en-US" sz="1200" b="1" u="sng" dirty="0">
                <a:solidFill>
                  <a:schemeClr val="accent5">
                    <a:lumMod val="50000"/>
                  </a:schemeClr>
                </a:solidFill>
              </a:rPr>
              <a:t>TRANSACTIONS PER DAY/WEEK/MONTH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accent5">
                    <a:lumMod val="50000"/>
                  </a:schemeClr>
                </a:solidFill>
              </a:rPr>
              <a:t>-- TRANSACTIONS PER DAY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accent3">
                    <a:lumMod val="75000"/>
                  </a:schemeClr>
                </a:solidFill>
              </a:rPr>
              <a:t>SELECT  DATE(`Transaction_Date`) AS Transaction_Day,    COUNT(*) AS Total_Transactions FROM debit_credit_csv GROUP BY DATE(`Transaction_Date`) ORDER BY Transaction_Day;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accent5">
                    <a:lumMod val="50000"/>
                  </a:schemeClr>
                </a:solidFill>
              </a:rPr>
              <a:t>-- TRANSACTIONS PER WEEK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accent3">
                    <a:lumMod val="75000"/>
                  </a:schemeClr>
                </a:solidFill>
              </a:rPr>
              <a:t>SELECT    YEAR(`Transaction_Date`) AS Year, WEEK(`Transaction_Date`) AS Week_No, COUNT(*) AS Total_Transactions FROM debit_credit_csv GROUP BY YEAR(`Transaction_Date`),WEEK(`Transaction_Date`)ORDER BY Year, Week_No;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accent5">
                    <a:lumMod val="50000"/>
                  </a:schemeClr>
                </a:solidFill>
              </a:rPr>
              <a:t>-- TRANSACTIONS PER MONTH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accent3">
                    <a:lumMod val="75000"/>
                  </a:schemeClr>
                </a:solidFill>
              </a:rPr>
              <a:t>SELECT    DATE_FORMAT(`Transaction_Date`,'%Y-%m') AS Month,COUNT(*) AS Total_Transactions FROM debit_credit_csv GROUP BY DATE_FORMAT(`Transaction_Date`,'%Y-%m')ORDER BY Month;</a:t>
            </a:r>
          </a:p>
        </p:txBody>
      </p:sp>
    </p:spTree>
    <p:extLst>
      <p:ext uri="{BB962C8B-B14F-4D97-AF65-F5344CB8AC3E}">
        <p14:creationId xmlns:p14="http://schemas.microsoft.com/office/powerpoint/2010/main" val="1983238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E9A7B-6ED1-441B-A090-414A93EB5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7555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CREDIT &amp; DEBIT DATA ANALYSIS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E2ABD-DFDC-4A17-BBCC-BD1286123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2680"/>
            <a:ext cx="9314468" cy="4841967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chemeClr val="accent5">
                    <a:lumMod val="50000"/>
                  </a:schemeClr>
                </a:solidFill>
              </a:rPr>
              <a:t>8. </a:t>
            </a:r>
            <a:r>
              <a:rPr lang="en-US" sz="1200" b="1" u="sng" dirty="0">
                <a:solidFill>
                  <a:schemeClr val="accent5">
                    <a:lumMod val="50000"/>
                  </a:schemeClr>
                </a:solidFill>
              </a:rPr>
              <a:t>TRANSACTION VOLUME BY BANK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chemeClr val="accent3">
                    <a:lumMod val="75000"/>
                  </a:schemeClr>
                </a:solidFill>
              </a:rPr>
              <a:t>SELECT Bank_Name,CONCAT(ROUND(SUM(Amount) / 1000000, 1),'M') AS Total_Transaction_Amount FROM debit_credit_csv GROUP BY Bank_Name ORDER BY SUM(Amount) DESC;</a:t>
            </a:r>
          </a:p>
          <a:p>
            <a:pPr marL="0" indent="0">
              <a:buNone/>
            </a:pPr>
            <a:r>
              <a:rPr lang="en-IN" sz="1200" b="1" dirty="0">
                <a:solidFill>
                  <a:schemeClr val="accent5">
                    <a:lumMod val="50000"/>
                  </a:schemeClr>
                </a:solidFill>
              </a:rPr>
              <a:t>9. </a:t>
            </a:r>
            <a:r>
              <a:rPr lang="en-IN" sz="1200" b="1" u="sng" dirty="0">
                <a:solidFill>
                  <a:schemeClr val="accent5">
                    <a:lumMod val="50000"/>
                  </a:schemeClr>
                </a:solidFill>
              </a:rPr>
              <a:t>TRANSACTION METHOD DISTRIBUTION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accent3">
                    <a:lumMod val="75000"/>
                  </a:schemeClr>
                </a:solidFill>
              </a:rPr>
              <a:t>SELECT Transaction_Method,COUNT(Account_Number) AS Transaction_count FROM debit_credit_csv GROUP BY Transaction_Method;</a:t>
            </a:r>
          </a:p>
          <a:p>
            <a:pPr marL="0" indent="0">
              <a:buNone/>
            </a:pPr>
            <a:r>
              <a:rPr lang="en-IN" sz="1200" b="1" dirty="0">
                <a:solidFill>
                  <a:schemeClr val="accent5">
                    <a:lumMod val="50000"/>
                  </a:schemeClr>
                </a:solidFill>
              </a:rPr>
              <a:t>10.</a:t>
            </a:r>
            <a:r>
              <a:rPr lang="en-IN" sz="1200" b="1" u="sng" dirty="0">
                <a:solidFill>
                  <a:schemeClr val="accent5">
                    <a:lumMod val="50000"/>
                  </a:schemeClr>
                </a:solidFill>
              </a:rPr>
              <a:t>SUSPICIOUS TRANSACTION FREQUENCY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accent3">
                    <a:lumMod val="75000"/>
                  </a:schemeClr>
                </a:solidFill>
              </a:rPr>
              <a:t>SELECT DATE_FORMAT(`Transaction_Date`,'%Y-%m') AS Month,COUNT(*) AS Suspicious_Transactions FROM high_risk_transaction_flag WHERE Risk_Flag='High Risk’ GROUP BY DATE_FORMAT(`Transaction_Date`,'%Y-%m')ORDER BY Month;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accent5">
                    <a:lumMod val="50000"/>
                  </a:schemeClr>
                </a:solidFill>
              </a:rPr>
              <a:t>11. </a:t>
            </a:r>
            <a:r>
              <a:rPr lang="en-US" sz="1200" b="1" u="sng" dirty="0">
                <a:solidFill>
                  <a:schemeClr val="accent5">
                    <a:lumMod val="50000"/>
                  </a:schemeClr>
                </a:solidFill>
              </a:rPr>
              <a:t>BRANCH TRANSACTION GROWTH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accent3">
                    <a:lumMod val="75000"/>
                  </a:schemeClr>
                </a:solidFill>
              </a:rPr>
              <a:t>SELECT Branch,CONCAT(ROUND(Total_Amount / 1000000, 0), 'M') AS Total_Amount,CONCAT(ROUND(((Total_Amount - Previous_Amount) / Previous_Amount) * 100, 2),'%') AS Growth_Percentage FROM (SELECT Branch, SUM(Amount) AS Total_Amount, LAG(SUM(Amount)) OVER (ORDER BY Branch) AS Previous_Amount FROM debit_credit_csv GROUP BY Branch) AS t;</a:t>
            </a:r>
          </a:p>
          <a:p>
            <a:pPr marL="0" indent="0">
              <a:buNone/>
            </a:pPr>
            <a:r>
              <a:rPr lang="en-US" sz="1200" b="1">
                <a:solidFill>
                  <a:schemeClr val="accent5">
                    <a:lumMod val="50000"/>
                  </a:schemeClr>
                </a:solidFill>
              </a:rPr>
              <a:t>12. </a:t>
            </a:r>
            <a:r>
              <a:rPr lang="en-US" sz="1200" b="1" u="sng">
                <a:solidFill>
                  <a:schemeClr val="accent5">
                    <a:lumMod val="50000"/>
                  </a:schemeClr>
                </a:solidFill>
              </a:rPr>
              <a:t>HIGH </a:t>
            </a:r>
            <a:r>
              <a:rPr lang="en-US" sz="1200" b="1" u="sng" dirty="0">
                <a:solidFill>
                  <a:schemeClr val="accent5">
                    <a:lumMod val="50000"/>
                  </a:schemeClr>
                </a:solidFill>
              </a:rPr>
              <a:t>RISK TRANSACTION FLAG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accent3">
                    <a:lumMod val="75000"/>
                  </a:schemeClr>
                </a:solidFill>
              </a:rPr>
              <a:t>SELECT Risk_Flag, COUNT(*) AS Total_Transactions FROM (SELECT CASE WHEN Amount &gt; 4000 THEN 'High Risk’ ELSE 'Normal’ END AS Risk_Flag FROM debit_credit_csv ) AS t GROUP BY Risk_Flag;</a:t>
            </a:r>
            <a:endParaRPr lang="en-IN" sz="12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120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4043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B1FFE-C152-87C6-FC2B-5FFB601F8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037"/>
            <a:ext cx="10515600" cy="617111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chemeClr val="accent1"/>
                </a:solidFill>
              </a:rPr>
              <a:t>BANKING KPIs - Insights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A99F2F-C0AE-9A8F-3407-24C8424AE55C}"/>
              </a:ext>
            </a:extLst>
          </p:cNvPr>
          <p:cNvSpPr txBox="1"/>
          <p:nvPr/>
        </p:nvSpPr>
        <p:spPr>
          <a:xfrm>
            <a:off x="201757" y="945763"/>
            <a:ext cx="3849133" cy="258532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u="sng" spc="6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TOTAL CLIENTS</a:t>
            </a:r>
            <a:endParaRPr lang="en-IN" b="1" u="sng" spc="600" dirty="0">
              <a:solidFill>
                <a:schemeClr val="tx1"/>
              </a:solidFill>
            </a:endParaRPr>
          </a:p>
          <a:p>
            <a:pPr marL="285750" lvl="0" indent="-285750" defTabSz="914377">
              <a:buFont typeface="Arial" panose="020B0604020202020204" pitchFamily="34" charset="0"/>
              <a:buChar char="•"/>
              <a:defRPr/>
            </a:pPr>
            <a:r>
              <a:rPr lang="en-US" dirty="0"/>
              <a:t>The bank maintained a customer base of </a:t>
            </a:r>
            <a:r>
              <a:rPr lang="en-US" b="1" dirty="0"/>
              <a:t>1,000 clients</a:t>
            </a:r>
            <a:r>
              <a:rPr lang="en-US" dirty="0"/>
              <a:t> during the analysis period.</a:t>
            </a:r>
          </a:p>
          <a:p>
            <a:pPr marL="285750" lvl="0" indent="-285750" defTabSz="914377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IN" sz="2400" b="1" spc="600" dirty="0"/>
          </a:p>
          <a:p>
            <a:endParaRPr lang="en-IN" dirty="0"/>
          </a:p>
          <a:p>
            <a:endParaRPr lang="en-IN" dirty="0"/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54AAB1-211D-64F6-1F8E-3306D0BB1DCC}"/>
              </a:ext>
            </a:extLst>
          </p:cNvPr>
          <p:cNvSpPr txBox="1"/>
          <p:nvPr/>
        </p:nvSpPr>
        <p:spPr>
          <a:xfrm>
            <a:off x="4196308" y="962850"/>
            <a:ext cx="3539612" cy="255114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u="sng" spc="600" dirty="0"/>
              <a:t>ACTIVE CLIENTS  </a:t>
            </a:r>
          </a:p>
          <a:p>
            <a:pPr marL="285750" lvl="0" indent="-285750" defTabSz="914377">
              <a:buFont typeface="Arial" panose="020B0604020202020204" pitchFamily="34" charset="0"/>
              <a:buChar char="•"/>
              <a:defRPr/>
            </a:pPr>
            <a:r>
              <a:rPr lang="en-US" dirty="0"/>
              <a:t>Out of 1,000 clients, </a:t>
            </a:r>
            <a:r>
              <a:rPr lang="en-US" b="1" dirty="0"/>
              <a:t>324 clients remained actively engaged</a:t>
            </a:r>
            <a:r>
              <a:rPr lang="en-US" dirty="0"/>
              <a:t> with the bank.</a:t>
            </a:r>
          </a:p>
          <a:p>
            <a:pPr marL="285750" lvl="0" indent="-285750" defTabSz="914377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z="1200" dirty="0"/>
          </a:p>
          <a:p>
            <a:pPr lvl="0" defTabSz="914377">
              <a:lnSpc>
                <a:spcPct val="150000"/>
              </a:lnSpc>
              <a:defRPr/>
            </a:pPr>
            <a:endParaRPr lang="en-IN" sz="600" b="1" spc="600" dirty="0"/>
          </a:p>
          <a:p>
            <a:pPr lvl="0" defTabSz="914377">
              <a:lnSpc>
                <a:spcPct val="150000"/>
              </a:lnSpc>
              <a:defRPr/>
            </a:pPr>
            <a:endParaRPr lang="en-IN" b="1" spc="600" dirty="0"/>
          </a:p>
          <a:p>
            <a:pPr lvl="0" defTabSz="914377">
              <a:lnSpc>
                <a:spcPct val="150000"/>
              </a:lnSpc>
              <a:defRPr/>
            </a:pPr>
            <a:endParaRPr lang="en-IN" b="1" spc="600" dirty="0"/>
          </a:p>
          <a:p>
            <a:pPr lvl="0" defTabSz="914377">
              <a:lnSpc>
                <a:spcPct val="150000"/>
              </a:lnSpc>
              <a:defRPr/>
            </a:pPr>
            <a:endParaRPr lang="en-IN" sz="500" b="1" spc="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95F7BE-433D-E795-5817-9EA917EF35F6}"/>
              </a:ext>
            </a:extLst>
          </p:cNvPr>
          <p:cNvSpPr txBox="1"/>
          <p:nvPr/>
        </p:nvSpPr>
        <p:spPr>
          <a:xfrm>
            <a:off x="7881337" y="962850"/>
            <a:ext cx="4108905" cy="250369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u="sng" spc="600" dirty="0"/>
              <a:t>PRINCIPA RECOVERY RATE  </a:t>
            </a:r>
            <a:endParaRPr lang="en-IN" sz="2000" b="1" u="sng" spc="600" dirty="0"/>
          </a:p>
          <a:p>
            <a:pPr marL="285750" lvl="0" indent="-285750" defTabSz="914377">
              <a:buFont typeface="Arial" panose="020B0604020202020204" pitchFamily="34" charset="0"/>
              <a:buChar char="•"/>
              <a:defRPr/>
            </a:pPr>
            <a:r>
              <a:rPr lang="en-US" dirty="0"/>
              <a:t>The bank achieved a </a:t>
            </a:r>
            <a:r>
              <a:rPr lang="en-US" b="1" dirty="0"/>
              <a:t>99.05% recovery rate</a:t>
            </a:r>
            <a:r>
              <a:rPr lang="en-US" dirty="0"/>
              <a:t>, indicating timely repayment of loans.</a:t>
            </a:r>
            <a:endParaRPr lang="en-IN" b="1" spc="600" dirty="0"/>
          </a:p>
          <a:p>
            <a:pPr marL="285750" lvl="0" indent="-285750" defTabSz="914377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pc="600" dirty="0"/>
          </a:p>
          <a:p>
            <a:pPr lvl="0" defTabSz="914377">
              <a:lnSpc>
                <a:spcPct val="150000"/>
              </a:lnSpc>
              <a:defRPr/>
            </a:pPr>
            <a:endParaRPr lang="en-IN" sz="1200" spc="600" dirty="0"/>
          </a:p>
          <a:p>
            <a:pPr marL="285750" lvl="0" indent="-285750" defTabSz="914377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IN" sz="1600" spc="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B1149B-310A-2A6B-75AD-F3A618796131}"/>
              </a:ext>
            </a:extLst>
          </p:cNvPr>
          <p:cNvSpPr txBox="1"/>
          <p:nvPr/>
        </p:nvSpPr>
        <p:spPr>
          <a:xfrm>
            <a:off x="211138" y="3759502"/>
            <a:ext cx="11779104" cy="230832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u="sng" spc="600" dirty="0"/>
              <a:t>DEFAULT RATE </a:t>
            </a:r>
            <a:endParaRPr lang="en-IN" sz="1600" b="1" u="sng" spc="600" dirty="0"/>
          </a:p>
          <a:p>
            <a:pPr marL="285750" lvl="0" indent="-285750" defTabSz="914377">
              <a:buFont typeface="Arial" panose="020B0604020202020204" pitchFamily="34" charset="0"/>
              <a:buChar char="•"/>
              <a:defRPr/>
            </a:pPr>
            <a:r>
              <a:rPr lang="en-US" dirty="0"/>
              <a:t>Only </a:t>
            </a:r>
            <a:r>
              <a:rPr lang="en-US" b="1" dirty="0"/>
              <a:t>5% of loans</a:t>
            </a:r>
            <a:r>
              <a:rPr lang="en-US" dirty="0"/>
              <a:t> are in default, indicating good credit quality, </a:t>
            </a:r>
          </a:p>
          <a:p>
            <a:pPr lvl="0" defTabSz="914377">
              <a:defRPr/>
            </a:pPr>
            <a:r>
              <a:rPr lang="en-US" dirty="0"/>
              <a:t>      </a:t>
            </a:r>
            <a:r>
              <a:rPr lang="en-IN" dirty="0"/>
              <a:t>showing strong repayment discipline.</a:t>
            </a:r>
          </a:p>
          <a:p>
            <a:pPr marL="285750" lvl="0" indent="-285750" defTabSz="914377">
              <a:buFont typeface="Arial" panose="020B0604020202020204" pitchFamily="34" charset="0"/>
              <a:buChar char="•"/>
              <a:defRPr/>
            </a:pPr>
            <a:r>
              <a:rPr lang="en-IN" dirty="0"/>
              <a:t>However, the impact depends on loan size — if those 5% are </a:t>
            </a:r>
            <a:r>
              <a:rPr lang="en-IN" b="1" dirty="0"/>
              <a:t>large loans</a:t>
            </a:r>
            <a:r>
              <a:rPr lang="en-IN" dirty="0"/>
              <a:t>, </a:t>
            </a:r>
          </a:p>
          <a:p>
            <a:pPr lvl="0" defTabSz="914377">
              <a:defRPr/>
            </a:pPr>
            <a:r>
              <a:rPr lang="en-IN" dirty="0"/>
              <a:t>      the financial risk is higher than if they’re small ones</a:t>
            </a:r>
            <a:endParaRPr lang="en-US" b="1" spc="600" dirty="0"/>
          </a:p>
          <a:p>
            <a:pPr marL="285750" lvl="0" indent="-285750" defTabSz="914377">
              <a:buFont typeface="Arial" panose="020B0604020202020204" pitchFamily="34" charset="0"/>
              <a:buChar char="•"/>
              <a:defRPr/>
            </a:pPr>
            <a:endParaRPr lang="en-US" b="1" spc="600" dirty="0"/>
          </a:p>
          <a:p>
            <a:pPr marL="285750" lvl="0" indent="-285750" defTabSz="914377">
              <a:buFont typeface="Arial" panose="020B0604020202020204" pitchFamily="34" charset="0"/>
              <a:buChar char="•"/>
              <a:defRPr/>
            </a:pPr>
            <a:endParaRPr lang="en-IN" b="1" spc="600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5A7199-CDCE-3211-B0BD-40D826FDB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858" y="2319063"/>
            <a:ext cx="1477875" cy="8620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0EA504-FCE8-832E-D5C6-2E9820E2D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2510" y="2408832"/>
            <a:ext cx="1287207" cy="7723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747A9C-6516-A14E-8115-BD68A06F8D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2877" y="2411527"/>
            <a:ext cx="2205091" cy="9725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3CE7360-261C-6D5F-E8BD-0ECDFD2B29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0823" y="3904232"/>
            <a:ext cx="1996613" cy="147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714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AFE26-188F-C94C-9CE8-58F923D13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AC171-FB37-FA8C-941E-66398C621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037"/>
            <a:ext cx="10515600" cy="617111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chemeClr val="accent1"/>
                </a:solidFill>
              </a:rPr>
              <a:t>BANKING KPIs - Insights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C64A4E-EC0E-224D-B124-4F959912C85B}"/>
              </a:ext>
            </a:extLst>
          </p:cNvPr>
          <p:cNvSpPr txBox="1"/>
          <p:nvPr/>
        </p:nvSpPr>
        <p:spPr>
          <a:xfrm>
            <a:off x="673254" y="843677"/>
            <a:ext cx="11204113" cy="249299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u="sng" spc="600" dirty="0"/>
              <a:t>DELINQUENCY RATE</a:t>
            </a:r>
            <a:endParaRPr lang="en-IN" sz="1600" b="1" u="sng" spc="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Delinquent ≠ Default</a:t>
            </a:r>
            <a:r>
              <a:rPr lang="en-IN" dirty="0"/>
              <a:t> → A delinquent loan is late, but the borrower may still catch up. </a:t>
            </a:r>
          </a:p>
          <a:p>
            <a:r>
              <a:rPr lang="en-IN" dirty="0"/>
              <a:t>      A defaulted loan is considered uncollectible.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 </a:t>
            </a:r>
            <a:r>
              <a:rPr lang="en-IN" b="1" dirty="0"/>
              <a:t>lower delinquency rate</a:t>
            </a:r>
            <a:r>
              <a:rPr lang="en-IN" dirty="0"/>
              <a:t> means borrowers are paying on time, </a:t>
            </a:r>
          </a:p>
          <a:p>
            <a:r>
              <a:rPr lang="en-IN" dirty="0"/>
              <a:t>      which reflects strong repayment discipline.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 </a:t>
            </a:r>
            <a:r>
              <a:rPr lang="en-IN" b="1" dirty="0"/>
              <a:t>higher delinquency rate</a:t>
            </a:r>
            <a:r>
              <a:rPr lang="en-IN" dirty="0"/>
              <a:t> signals repayment stress and increases the risk </a:t>
            </a:r>
          </a:p>
          <a:p>
            <a:r>
              <a:rPr lang="en-IN" dirty="0"/>
              <a:t>      that some loans may eventually default.</a:t>
            </a:r>
          </a:p>
          <a:p>
            <a:pPr lvl="0" defTabSz="914377">
              <a:defRPr/>
            </a:pPr>
            <a:endParaRPr lang="en-IN" sz="1600" b="1" spc="600" dirty="0"/>
          </a:p>
          <a:p>
            <a:endParaRPr lang="en-IN" sz="1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DD14FA-6EC2-52E7-9254-371CFA8C2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6927" y="1474284"/>
            <a:ext cx="2434633" cy="17272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1B352D0-4D1A-75C6-A873-62CAD1646AFB}"/>
              </a:ext>
            </a:extLst>
          </p:cNvPr>
          <p:cNvSpPr txBox="1"/>
          <p:nvPr/>
        </p:nvSpPr>
        <p:spPr>
          <a:xfrm>
            <a:off x="673253" y="3519307"/>
            <a:ext cx="11204113" cy="258532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u="sng" spc="600" dirty="0"/>
              <a:t>ON TIME REPAYMENT % </a:t>
            </a:r>
            <a:endParaRPr lang="en-IN" sz="1600" b="1" u="sng" spc="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It indicates that </a:t>
            </a:r>
            <a:r>
              <a:rPr lang="en-IN" b="1" dirty="0"/>
              <a:t>71.1% of all loan repayments were made on or before their due dates</a:t>
            </a:r>
            <a:r>
              <a:rPr lang="en-IN" dirty="0"/>
              <a:t>,</a:t>
            </a:r>
          </a:p>
          <a:p>
            <a:r>
              <a:rPr lang="en-IN" dirty="0"/>
              <a:t>       while the remaining </a:t>
            </a:r>
            <a:r>
              <a:rPr lang="en-IN" b="1" dirty="0"/>
              <a:t>28.9% were delayed or overdue</a:t>
            </a:r>
            <a:r>
              <a:rPr lang="en-IN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Improving this metric (for example, through reminders or flexible payment plans) </a:t>
            </a:r>
          </a:p>
          <a:p>
            <a:r>
              <a:rPr lang="en-IN" dirty="0"/>
              <a:t>       can </a:t>
            </a:r>
            <a:r>
              <a:rPr lang="en-IN" b="1" dirty="0"/>
              <a:t>reduce delinquency</a:t>
            </a:r>
            <a:r>
              <a:rPr lang="en-IN" dirty="0"/>
              <a:t> and </a:t>
            </a:r>
            <a:r>
              <a:rPr lang="en-IN" b="1" dirty="0"/>
              <a:t>enhance cash flow stability</a:t>
            </a:r>
            <a:r>
              <a:rPr lang="en-IN" dirty="0"/>
              <a:t>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F4CCE5B-182F-2661-866B-252715341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8369" y="4154930"/>
            <a:ext cx="2363191" cy="1663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2352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9537F-324F-EE20-8E21-96DC1DB4D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7A11C-5A60-14AD-42F9-6BB1B389B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65" y="141106"/>
            <a:ext cx="10515600" cy="617111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chemeClr val="accent1"/>
                </a:solidFill>
              </a:rPr>
              <a:t>BANKING KPIs - Insights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E1FCB5-C31E-A677-F091-C69ACEDAD203}"/>
              </a:ext>
            </a:extLst>
          </p:cNvPr>
          <p:cNvSpPr txBox="1"/>
          <p:nvPr/>
        </p:nvSpPr>
        <p:spPr>
          <a:xfrm>
            <a:off x="201757" y="945763"/>
            <a:ext cx="4033880" cy="243143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u="sng" spc="6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TOTAL AMOUNT FUNDED</a:t>
            </a:r>
            <a:endParaRPr lang="en-IN" b="1" u="sng" spc="600" dirty="0">
              <a:solidFill>
                <a:schemeClr val="tx1"/>
              </a:solidFill>
            </a:endParaRPr>
          </a:p>
          <a:p>
            <a:pPr marL="285750" lvl="0" indent="-285750" defTabSz="914377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/>
              <a:t>The </a:t>
            </a:r>
            <a:r>
              <a:rPr lang="en-IN" dirty="0"/>
              <a:t>total value of loans funded is  ₹52.36 M</a:t>
            </a:r>
            <a:endParaRPr lang="en-IN" b="1" spc="600" dirty="0"/>
          </a:p>
          <a:p>
            <a:endParaRPr lang="en-IN" dirty="0"/>
          </a:p>
          <a:p>
            <a:endParaRPr lang="en-IN" dirty="0"/>
          </a:p>
          <a:p>
            <a:endParaRPr lang="en-IN" sz="800" dirty="0"/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D6DF2B-435F-D2E5-2D2E-B4F79A153C4E}"/>
              </a:ext>
            </a:extLst>
          </p:cNvPr>
          <p:cNvSpPr txBox="1"/>
          <p:nvPr/>
        </p:nvSpPr>
        <p:spPr>
          <a:xfrm>
            <a:off x="4345859" y="945763"/>
            <a:ext cx="3665326" cy="241264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u="sng" spc="600" dirty="0"/>
              <a:t>AVERAGE LOAN SIZE</a:t>
            </a:r>
          </a:p>
          <a:p>
            <a:pPr marL="285750" lvl="0" indent="-285750" defTabSz="914377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IN" dirty="0"/>
              <a:t>The typical loan amount per borrower is ₹26.18k</a:t>
            </a:r>
          </a:p>
          <a:p>
            <a:pPr lvl="0" defTabSz="914377">
              <a:lnSpc>
                <a:spcPct val="150000"/>
              </a:lnSpc>
              <a:defRPr/>
            </a:pPr>
            <a:endParaRPr lang="en-IN" sz="2800" b="1" spc="600" dirty="0"/>
          </a:p>
          <a:p>
            <a:pPr marL="285750" lvl="0" indent="-285750" defTabSz="914377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IN" sz="2000" b="1" spc="600" dirty="0"/>
          </a:p>
          <a:p>
            <a:pPr lvl="0" defTabSz="914377">
              <a:lnSpc>
                <a:spcPct val="150000"/>
              </a:lnSpc>
              <a:defRPr/>
            </a:pPr>
            <a:endParaRPr lang="en-IN" sz="500" b="1" spc="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BB478E-2A4A-A51B-96AE-51CF12D434A3}"/>
              </a:ext>
            </a:extLst>
          </p:cNvPr>
          <p:cNvSpPr txBox="1"/>
          <p:nvPr/>
        </p:nvSpPr>
        <p:spPr>
          <a:xfrm>
            <a:off x="8130789" y="1494219"/>
            <a:ext cx="3859454" cy="406887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u="sng" spc="600" dirty="0"/>
              <a:t>TOTAL LOAN DISBURSED</a:t>
            </a:r>
            <a:endParaRPr lang="en-IN" sz="2000" b="1" u="sng" spc="600" dirty="0"/>
          </a:p>
          <a:p>
            <a:pPr marL="285750" lvl="0" indent="-285750" defTabSz="914377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/>
              <a:t>T</a:t>
            </a:r>
            <a:r>
              <a:rPr lang="en-IN" dirty="0"/>
              <a:t>he total amount of money actually given out to borrowers by the bank is ₹52.36 M</a:t>
            </a:r>
            <a:endParaRPr lang="en-IN" b="1" spc="600" dirty="0"/>
          </a:p>
          <a:p>
            <a:pPr marL="285750" lvl="0" indent="-285750" defTabSz="914377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pc="600" dirty="0"/>
          </a:p>
          <a:p>
            <a:pPr lvl="0" defTabSz="914377">
              <a:lnSpc>
                <a:spcPct val="150000"/>
              </a:lnSpc>
              <a:defRPr/>
            </a:pPr>
            <a:endParaRPr lang="en-US" sz="600" spc="600" dirty="0"/>
          </a:p>
          <a:p>
            <a:pPr marL="285750" lvl="0" indent="-285750" defTabSz="914377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pc="600" dirty="0"/>
          </a:p>
          <a:p>
            <a:pPr marL="285750" lvl="0" indent="-285750" defTabSz="914377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pc="600" dirty="0"/>
          </a:p>
          <a:p>
            <a:pPr marL="285750" lvl="0" indent="-285750" defTabSz="914377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pc="600" dirty="0"/>
          </a:p>
          <a:p>
            <a:pPr marL="285750" lvl="0" indent="-285750" defTabSz="914377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pc="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D4AE89-D12E-F4A7-7BD9-92E1D0EFD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053" y="2513523"/>
            <a:ext cx="1881287" cy="7983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B3B7ED4-A4E6-AF72-6FC3-117500972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470" y="2326710"/>
            <a:ext cx="1665390" cy="79839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B7D1F7A-351B-99EE-CD4C-7D45739C0F47}"/>
              </a:ext>
            </a:extLst>
          </p:cNvPr>
          <p:cNvSpPr txBox="1"/>
          <p:nvPr/>
        </p:nvSpPr>
        <p:spPr>
          <a:xfrm>
            <a:off x="201757" y="3480803"/>
            <a:ext cx="4033879" cy="309937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u="sng" spc="600" dirty="0"/>
              <a:t>TOTAL REPAYMENTS COLLECTED</a:t>
            </a:r>
            <a:endParaRPr lang="en-IN" sz="2000" b="1" u="sng" spc="600" dirty="0"/>
          </a:p>
          <a:p>
            <a:pPr marL="285750" lvl="0" indent="-285750" defTabSz="914377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/>
              <a:t>The </a:t>
            </a:r>
            <a:r>
              <a:rPr lang="en-IN" dirty="0"/>
              <a:t>total amount recovered from borrowers by the bank is ₹53.86 M</a:t>
            </a:r>
            <a:endParaRPr lang="en-IN" b="1" spc="600" dirty="0"/>
          </a:p>
          <a:p>
            <a:pPr marL="285750" lvl="0" indent="-285750" defTabSz="914377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pc="600" dirty="0"/>
          </a:p>
          <a:p>
            <a:pPr lvl="0" defTabSz="914377">
              <a:lnSpc>
                <a:spcPct val="150000"/>
              </a:lnSpc>
              <a:defRPr/>
            </a:pPr>
            <a:endParaRPr lang="en-US" spc="600" dirty="0"/>
          </a:p>
          <a:p>
            <a:pPr marL="285750" lvl="0" indent="-285750" defTabSz="914377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pc="600" dirty="0"/>
          </a:p>
          <a:p>
            <a:pPr marL="285750" lvl="0" indent="-285750" defTabSz="914377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IN" spc="6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F7904FC-AF0A-1E95-941D-CA84A466A9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9529" y="3737110"/>
            <a:ext cx="2021973" cy="82110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874D9ED-29E3-B041-D639-2708AE1706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382" y="5111887"/>
            <a:ext cx="2349078" cy="80035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EBC8338-4471-9E04-A0A0-11344858FD24}"/>
              </a:ext>
            </a:extLst>
          </p:cNvPr>
          <p:cNvSpPr txBox="1"/>
          <p:nvPr/>
        </p:nvSpPr>
        <p:spPr>
          <a:xfrm>
            <a:off x="4344119" y="3480802"/>
            <a:ext cx="3665326" cy="309937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u="sng" spc="600" dirty="0"/>
              <a:t>INTEREST INCOME</a:t>
            </a:r>
            <a:endParaRPr lang="en-IN" sz="2000" b="1" u="sng" spc="600" dirty="0"/>
          </a:p>
          <a:p>
            <a:pPr marL="285750" lvl="0" indent="-285750" defTabSz="914377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/>
              <a:t>The bank </a:t>
            </a:r>
            <a:r>
              <a:rPr lang="en-IN" dirty="0"/>
              <a:t>earned over ₹50 lakh from interest payments.</a:t>
            </a:r>
          </a:p>
          <a:p>
            <a:pPr marL="285750" lvl="0" indent="-285750" defTabSz="914377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IN" sz="1000" b="1" spc="600" dirty="0"/>
          </a:p>
          <a:p>
            <a:pPr marL="285750" lvl="0" indent="-285750" defTabSz="914377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pc="600" dirty="0"/>
          </a:p>
          <a:p>
            <a:pPr lvl="0" defTabSz="914377">
              <a:lnSpc>
                <a:spcPct val="150000"/>
              </a:lnSpc>
              <a:defRPr/>
            </a:pPr>
            <a:endParaRPr lang="en-US" spc="600" dirty="0"/>
          </a:p>
          <a:p>
            <a:pPr marL="285750" lvl="0" indent="-285750" defTabSz="914377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pc="600" dirty="0"/>
          </a:p>
          <a:p>
            <a:pPr marL="285750" lvl="0" indent="-285750" defTabSz="914377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IN" spc="6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EE492A1-3C70-80C4-BC61-237817D82B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2184" y="5030488"/>
            <a:ext cx="1942064" cy="817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9953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7DABF-CA33-4C36-5660-3F308A30E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185"/>
            <a:ext cx="10515600" cy="60885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IN" b="1" dirty="0">
                <a:solidFill>
                  <a:schemeClr val="accent1"/>
                </a:solidFill>
              </a:rPr>
              <a:t>BANKING KPIs -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5D47F-89AE-A6CC-FF2C-A7B402CFF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B34318-A485-58C4-D8ED-28DC694F79A7}"/>
              </a:ext>
            </a:extLst>
          </p:cNvPr>
          <p:cNvSpPr/>
          <p:nvPr/>
        </p:nvSpPr>
        <p:spPr>
          <a:xfrm>
            <a:off x="186812" y="681037"/>
            <a:ext cx="11847871" cy="617696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FFB6DD-EB4F-C0F0-492B-DB614515E25F}"/>
              </a:ext>
            </a:extLst>
          </p:cNvPr>
          <p:cNvSpPr txBox="1"/>
          <p:nvPr/>
        </p:nvSpPr>
        <p:spPr>
          <a:xfrm>
            <a:off x="219240" y="786558"/>
            <a:ext cx="4109884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u="sng" spc="300" dirty="0"/>
              <a:t>LOAN AMOUNT BY BRANCH</a:t>
            </a:r>
            <a:r>
              <a:rPr lang="en-IN" sz="2000" b="1" u="sng" dirty="0"/>
              <a:t> </a:t>
            </a:r>
            <a:endParaRPr lang="en-IN" sz="1600" b="1" u="sng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Dhuri</a:t>
            </a:r>
            <a:r>
              <a:rPr lang="en-US" dirty="0"/>
              <a:t> Branch recorded the highest loan amount (</a:t>
            </a:r>
            <a:r>
              <a:rPr lang="en-US" b="1" dirty="0"/>
              <a:t>₹4.8M</a:t>
            </a:r>
            <a:r>
              <a:rPr lang="en-US" dirty="0"/>
              <a:t>) among all branches.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Durgapur Branch recorded the lowest loan amount (</a:t>
            </a:r>
            <a:r>
              <a:rPr lang="en-US" b="1" dirty="0"/>
              <a:t>₹1.1M</a:t>
            </a:r>
            <a:r>
              <a:rPr lang="en-US" dirty="0"/>
              <a:t>) during the analysis period.</a:t>
            </a:r>
            <a:endParaRPr lang="en-IN" dirty="0"/>
          </a:p>
          <a:p>
            <a:endParaRPr lang="en-IN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BAA1BBC-6E59-25AF-F319-5A4CBF16E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193" y="3508872"/>
            <a:ext cx="4136547" cy="30395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5AF121-4946-35D6-6AF3-CFED47C5D7C3}"/>
              </a:ext>
            </a:extLst>
          </p:cNvPr>
          <p:cNvSpPr txBox="1"/>
          <p:nvPr/>
        </p:nvSpPr>
        <p:spPr>
          <a:xfrm>
            <a:off x="4341791" y="809962"/>
            <a:ext cx="400983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u="sng" spc="300" dirty="0"/>
              <a:t>PRODUCT-WISE LOAN VOLUME</a:t>
            </a:r>
            <a:endParaRPr lang="en-IN" sz="1600" u="sng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Service loans recorded the highest loan volume, contributing significantly to the overall portfolio.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Agriculture and Factory loans accounted for the lowest share of total loans.</a:t>
            </a:r>
          </a:p>
          <a:p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7673CBA-6F44-D2FE-7A2E-7532030E3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8510" y="3508871"/>
            <a:ext cx="3762500" cy="301850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9A48423-C032-F60D-208D-61356DCEBB0E}"/>
              </a:ext>
            </a:extLst>
          </p:cNvPr>
          <p:cNvSpPr txBox="1"/>
          <p:nvPr/>
        </p:nvSpPr>
        <p:spPr>
          <a:xfrm>
            <a:off x="8364295" y="786558"/>
            <a:ext cx="364089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u="sng" spc="300" dirty="0"/>
              <a:t>BRANCH </a:t>
            </a:r>
            <a:r>
              <a:rPr lang="en-IN" b="1" dirty="0"/>
              <a:t> </a:t>
            </a:r>
            <a:r>
              <a:rPr lang="en-IN" b="1" u="sng" spc="300" dirty="0"/>
              <a:t>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Out of 180 branches, 36% are low-performing, while 64% are medium or high-performing.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Focusing on improving low-performing branches presents the greatest opportunity to increase overall performance.</a:t>
            </a:r>
            <a:endParaRPr lang="en-IN" b="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2FE10CE-B152-C33B-8815-4FA8166A42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6694" y="3508871"/>
            <a:ext cx="3391113" cy="3045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9070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04641EA-D292-E17B-D3E1-D289E123AC8F}"/>
              </a:ext>
            </a:extLst>
          </p:cNvPr>
          <p:cNvSpPr txBox="1">
            <a:spLocks/>
          </p:cNvSpPr>
          <p:nvPr/>
        </p:nvSpPr>
        <p:spPr>
          <a:xfrm>
            <a:off x="1101213" y="314632"/>
            <a:ext cx="9144000" cy="6194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solidFill>
                  <a:schemeClr val="tx2">
                    <a:lumMod val="90000"/>
                    <a:lumOff val="10000"/>
                  </a:schemeClr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BANK DEBIT AND CREDIT DATA KPIs- Insights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282A97F-80F4-22EA-9769-F31FD70867A8}"/>
              </a:ext>
            </a:extLst>
          </p:cNvPr>
          <p:cNvSpPr/>
          <p:nvPr/>
        </p:nvSpPr>
        <p:spPr>
          <a:xfrm>
            <a:off x="798870" y="934066"/>
            <a:ext cx="5818240" cy="163215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r>
              <a:rPr lang="en-IN" b="1" dirty="0"/>
              <a:t>Total Credit Amount</a:t>
            </a:r>
          </a:p>
          <a:p>
            <a:pPr algn="ctr"/>
            <a:r>
              <a:rPr lang="en-IN" dirty="0"/>
              <a:t>Total amount received is 127.60M. Credit volume nearly matches debit, showing balanced fund movement.</a:t>
            </a:r>
            <a:endParaRPr lang="en-IN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1B69FF1-3BE7-F43C-768A-5047866BD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1204" y="1143811"/>
            <a:ext cx="3417317" cy="1315344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C28AF35-9F50-BAC8-08D7-2F081455EDF1}"/>
              </a:ext>
            </a:extLst>
          </p:cNvPr>
          <p:cNvSpPr/>
          <p:nvPr/>
        </p:nvSpPr>
        <p:spPr>
          <a:xfrm>
            <a:off x="798870" y="2718620"/>
            <a:ext cx="5818240" cy="163215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2. Total Debit Amount</a:t>
            </a:r>
          </a:p>
          <a:p>
            <a:pPr algn="ctr"/>
            <a:r>
              <a:rPr lang="en-IN" dirty="0"/>
              <a:t>Total amount debited is 127.29 M. Outflow is slightly lower than inflow, suggesting efficient fund utilization and minimal liquidity gaps.</a:t>
            </a:r>
            <a:endParaRPr lang="en-IN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409F309-C193-8B58-6D65-3A3203768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1204" y="2796717"/>
            <a:ext cx="3487468" cy="1296113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07348A7-43DE-1B09-B52A-7D3B552EE821}"/>
              </a:ext>
            </a:extLst>
          </p:cNvPr>
          <p:cNvSpPr/>
          <p:nvPr/>
        </p:nvSpPr>
        <p:spPr>
          <a:xfrm>
            <a:off x="798870" y="4503175"/>
            <a:ext cx="5818240" cy="163215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3. Credit to Debit Ratio</a:t>
            </a:r>
            <a:endParaRPr lang="en-IN" dirty="0"/>
          </a:p>
          <a:p>
            <a:pPr algn="ctr"/>
            <a:r>
              <a:rPr lang="en-IN" dirty="0"/>
              <a:t>A ratio close to 1 shows equilibrium between credits and debits — ideal for maintaining financial stability.</a:t>
            </a:r>
            <a:endParaRPr lang="en-IN" b="1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4E8A7C0-186F-4449-A70E-B60BADD8C5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0366" y="4540046"/>
            <a:ext cx="3368155" cy="1328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567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B8A50-9392-AEB5-6468-8C9421F29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1BC668E-25C1-7EC0-7AEF-C3735EFBB404}"/>
              </a:ext>
            </a:extLst>
          </p:cNvPr>
          <p:cNvSpPr txBox="1">
            <a:spLocks/>
          </p:cNvSpPr>
          <p:nvPr/>
        </p:nvSpPr>
        <p:spPr>
          <a:xfrm>
            <a:off x="1101213" y="314632"/>
            <a:ext cx="9144000" cy="6194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solidFill>
                  <a:schemeClr val="tx2">
                    <a:lumMod val="90000"/>
                    <a:lumOff val="10000"/>
                  </a:schemeClr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BANK DEBIT AND CREDIT DATA KPIs- Insights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29FC3D3-BB30-2883-BBAB-430F27B99487}"/>
              </a:ext>
            </a:extLst>
          </p:cNvPr>
          <p:cNvSpPr/>
          <p:nvPr/>
        </p:nvSpPr>
        <p:spPr>
          <a:xfrm>
            <a:off x="798870" y="934066"/>
            <a:ext cx="5818240" cy="163215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4. Account Activity Ratio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Indicates how active a customer is in relation to their balance.</a:t>
            </a:r>
            <a:r>
              <a:rPr lang="en-IN" b="1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High activity ratio reflects frequent transactions, implying strong customer engagement and operational throughput.</a:t>
            </a:r>
            <a:endParaRPr lang="en-IN" b="1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85433D7-55E5-2F2F-1A4E-0B434E24568F}"/>
              </a:ext>
            </a:extLst>
          </p:cNvPr>
          <p:cNvSpPr/>
          <p:nvPr/>
        </p:nvSpPr>
        <p:spPr>
          <a:xfrm>
            <a:off x="798870" y="2718620"/>
            <a:ext cx="5818240" cy="163215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5. Net Transaction Amount</a:t>
            </a:r>
          </a:p>
          <a:p>
            <a:r>
              <a:rPr lang="en-IN" dirty="0"/>
              <a:t>Positive net value means credits slightly exceed debits, contributing to a small surplus</a:t>
            </a:r>
            <a:endParaRPr lang="en-IN" b="1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1795245-0970-670B-DE08-F00B01C89BCB}"/>
              </a:ext>
            </a:extLst>
          </p:cNvPr>
          <p:cNvSpPr/>
          <p:nvPr/>
        </p:nvSpPr>
        <p:spPr>
          <a:xfrm>
            <a:off x="798870" y="4503174"/>
            <a:ext cx="5818240" cy="1738697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6. High Risk Transactions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Flag transactions that exceed a predefined amount or show irregular activity (e.g., large withdrawals or deposits).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Insight: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Helps to identify potentially fraudulent transactions that need further investigation.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528EA3-DC33-8850-E994-5084D2D84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3750" y="986448"/>
            <a:ext cx="3009617" cy="11944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B64582-5729-CE48-9FCF-EB91CA9FB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3750" y="2831761"/>
            <a:ext cx="3189253" cy="11944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96EB1E-96B4-78F9-6B54-620AE01011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4032" y="4396632"/>
            <a:ext cx="3302626" cy="1845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6844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D6334-2CFD-7C93-F3AC-B67443AC2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2D40113-7D28-65D8-2751-1867F9DF7D57}"/>
              </a:ext>
            </a:extLst>
          </p:cNvPr>
          <p:cNvSpPr txBox="1">
            <a:spLocks/>
          </p:cNvSpPr>
          <p:nvPr/>
        </p:nvSpPr>
        <p:spPr>
          <a:xfrm>
            <a:off x="1101213" y="314632"/>
            <a:ext cx="9144000" cy="6194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solidFill>
                  <a:schemeClr val="tx2">
                    <a:lumMod val="90000"/>
                    <a:lumOff val="10000"/>
                  </a:schemeClr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BANK DEBIT AND CREDIT DATA KPIs- Insights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1B2FC36-8A51-D179-F97F-72A584013B5F}"/>
              </a:ext>
            </a:extLst>
          </p:cNvPr>
          <p:cNvSpPr/>
          <p:nvPr/>
        </p:nvSpPr>
        <p:spPr>
          <a:xfrm>
            <a:off x="798869" y="934066"/>
            <a:ext cx="10901517" cy="1012721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7.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Transactions per Day/Week/Month: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Identifies transaction volume trends over time, helping to detect periods of high or low activity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EE589E-514A-6F0B-4CA5-FB1EBA3DE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502" y="2237695"/>
            <a:ext cx="10104996" cy="430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3940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45B8F-DCBF-8C38-705C-2487B1B40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94FAC04-F4E7-434A-B913-8B182131C179}"/>
              </a:ext>
            </a:extLst>
          </p:cNvPr>
          <p:cNvSpPr txBox="1">
            <a:spLocks/>
          </p:cNvSpPr>
          <p:nvPr/>
        </p:nvSpPr>
        <p:spPr>
          <a:xfrm>
            <a:off x="1101213" y="314632"/>
            <a:ext cx="9144000" cy="6194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solidFill>
                  <a:schemeClr val="tx2">
                    <a:lumMod val="90000"/>
                    <a:lumOff val="10000"/>
                  </a:schemeClr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BANK DEBIT AND CREDIT DATA KPIs- Insights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2754E26-9A84-2C54-C630-8B39411D24D0}"/>
              </a:ext>
            </a:extLst>
          </p:cNvPr>
          <p:cNvSpPr/>
          <p:nvPr/>
        </p:nvSpPr>
        <p:spPr>
          <a:xfrm>
            <a:off x="700548" y="1966452"/>
            <a:ext cx="6300020" cy="222208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8. Transaction Method Distribution</a:t>
            </a:r>
          </a:p>
          <a:p>
            <a:pPr algn="ctr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Measures the total transaction volume per branch, helping to compare branch performance.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0D7252-AE38-4B8F-78CE-7C38BEEF3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107" y="1145457"/>
            <a:ext cx="4400428" cy="3864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4393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BC2D5-2E48-03E2-CEB4-ABE4F24F5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947041D-54AE-8436-62B6-73C84AE416B9}"/>
              </a:ext>
            </a:extLst>
          </p:cNvPr>
          <p:cNvSpPr txBox="1">
            <a:spLocks/>
          </p:cNvSpPr>
          <p:nvPr/>
        </p:nvSpPr>
        <p:spPr>
          <a:xfrm>
            <a:off x="1101213" y="314632"/>
            <a:ext cx="9144000" cy="6194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solidFill>
                  <a:schemeClr val="tx2">
                    <a:lumMod val="90000"/>
                    <a:lumOff val="10000"/>
                  </a:schemeClr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BANK DEBIT AND CREDIT DATA KPIs- Insights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033EC8B-020A-8CBA-D56F-33722E291B98}"/>
              </a:ext>
            </a:extLst>
          </p:cNvPr>
          <p:cNvSpPr/>
          <p:nvPr/>
        </p:nvSpPr>
        <p:spPr>
          <a:xfrm>
            <a:off x="700548" y="1966452"/>
            <a:ext cx="6300020" cy="222208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9.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Transaction Volume by Bank</a:t>
            </a:r>
          </a:p>
          <a:p>
            <a:pPr algn="ctr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Helps compare the performance of different banks in terms of transaction activity.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4BBBBF-6C49-1599-B1E4-18E954886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0189" y="1415013"/>
            <a:ext cx="4887236" cy="3520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9078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19CBC-25B8-6EB6-3938-FACAD5CF2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42D99EA-4FA3-6D62-0342-F9F235EDB125}"/>
              </a:ext>
            </a:extLst>
          </p:cNvPr>
          <p:cNvSpPr txBox="1">
            <a:spLocks/>
          </p:cNvSpPr>
          <p:nvPr/>
        </p:nvSpPr>
        <p:spPr>
          <a:xfrm>
            <a:off x="1101213" y="314632"/>
            <a:ext cx="9144000" cy="6194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solidFill>
                  <a:schemeClr val="tx2">
                    <a:lumMod val="90000"/>
                    <a:lumOff val="10000"/>
                  </a:schemeClr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BANK DEBIT AND CREDIT DATA KPIs- Insights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2F4303B-3E84-54A6-9BF9-9EBE5E31C640}"/>
              </a:ext>
            </a:extLst>
          </p:cNvPr>
          <p:cNvSpPr/>
          <p:nvPr/>
        </p:nvSpPr>
        <p:spPr>
          <a:xfrm>
            <a:off x="2945990" y="1071716"/>
            <a:ext cx="6300020" cy="200578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10.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Total Transaction Amount by Branch</a:t>
            </a:r>
          </a:p>
          <a:p>
            <a:pPr algn="ctr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Measures the total transaction volume per branch, helping to compare branch performance.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393111-5340-6B53-516A-51F34EC03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387" y="3200674"/>
            <a:ext cx="6241761" cy="326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4897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B56D4-3A02-09D3-2406-21DF8FA62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B70B639-64B3-3563-F139-9E7A006FFE2E}"/>
              </a:ext>
            </a:extLst>
          </p:cNvPr>
          <p:cNvSpPr txBox="1">
            <a:spLocks/>
          </p:cNvSpPr>
          <p:nvPr/>
        </p:nvSpPr>
        <p:spPr>
          <a:xfrm>
            <a:off x="1101213" y="314632"/>
            <a:ext cx="9144000" cy="6194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solidFill>
                  <a:schemeClr val="tx2">
                    <a:lumMod val="90000"/>
                    <a:lumOff val="10000"/>
                  </a:schemeClr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BANK DEBIT AND CREDIT DATA KPIs- Insights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BF14CCA-0653-28B3-1A06-C4F1379E30A5}"/>
              </a:ext>
            </a:extLst>
          </p:cNvPr>
          <p:cNvSpPr/>
          <p:nvPr/>
        </p:nvSpPr>
        <p:spPr>
          <a:xfrm>
            <a:off x="2579124" y="1140541"/>
            <a:ext cx="7033752" cy="137651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11.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Suspicious Transaction Frequency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Formula: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Count of flagged high-risk transactions over a period.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Insight: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Measures the frequency of potentially suspicious transactions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7226EB-F749-61F7-DB4E-18E4B5D8A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9126" y="2809259"/>
            <a:ext cx="5433747" cy="359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3924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49205-0594-B55C-DB84-1738DB02B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211183E-2C6F-C7C5-2260-7DF70A840A0D}"/>
              </a:ext>
            </a:extLst>
          </p:cNvPr>
          <p:cNvSpPr txBox="1">
            <a:spLocks/>
          </p:cNvSpPr>
          <p:nvPr/>
        </p:nvSpPr>
        <p:spPr>
          <a:xfrm>
            <a:off x="1101213" y="314632"/>
            <a:ext cx="9144000" cy="6194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solidFill>
                  <a:schemeClr val="tx2">
                    <a:lumMod val="90000"/>
                    <a:lumOff val="10000"/>
                  </a:schemeClr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BANK DEBIT AND CREDIT DATA KPIs- Insights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1289C09-10E0-6878-E28B-B839EFEFD7F2}"/>
              </a:ext>
            </a:extLst>
          </p:cNvPr>
          <p:cNvSpPr/>
          <p:nvPr/>
        </p:nvSpPr>
        <p:spPr>
          <a:xfrm>
            <a:off x="2579123" y="1012723"/>
            <a:ext cx="7666089" cy="167148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12.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Branch Transaction Growth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Formula: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Percentage change in the total transaction amount or volume at each branch over a defined period.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Insight: Identifies whether a particular branch is growing or declining in terms of transaction volume.</a:t>
            </a:r>
          </a:p>
          <a:p>
            <a:pPr algn="ctr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B45A96-3A4D-8652-E85A-CDEFA3994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5623" y="2762865"/>
            <a:ext cx="7042105" cy="3836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8353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5731D-07CF-42BF-AFAD-4DDADB522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216" y="55327"/>
            <a:ext cx="10429568" cy="87374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accent1"/>
                </a:solidFill>
              </a:rPr>
              <a:t>CONCLUSION</a:t>
            </a:r>
            <a:r>
              <a:rPr lang="en-IN" b="1" i="1" spc="600" dirty="0">
                <a:solidFill>
                  <a:schemeClr val="accent1"/>
                </a:solidFill>
              </a:rPr>
              <a:t>, </a:t>
            </a:r>
            <a:r>
              <a:rPr lang="en-IN" b="1" dirty="0">
                <a:solidFill>
                  <a:schemeClr val="accent1"/>
                </a:solidFill>
              </a:rPr>
              <a:t>INSIGHTS</a:t>
            </a:r>
            <a:r>
              <a:rPr lang="en-IN" b="1" i="1" spc="600" dirty="0">
                <a:solidFill>
                  <a:schemeClr val="accent1"/>
                </a:solidFill>
              </a:rPr>
              <a:t> &amp; </a:t>
            </a:r>
            <a:r>
              <a:rPr lang="en-IN" b="1" dirty="0">
                <a:solidFill>
                  <a:schemeClr val="accent1"/>
                </a:solidFill>
              </a:rPr>
              <a:t>CHALLENGES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10D135-33BA-0FF9-E000-93D2018BD36F}"/>
              </a:ext>
            </a:extLst>
          </p:cNvPr>
          <p:cNvSpPr txBox="1"/>
          <p:nvPr/>
        </p:nvSpPr>
        <p:spPr>
          <a:xfrm>
            <a:off x="629263" y="1120880"/>
            <a:ext cx="4906298" cy="320087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000" b="1" u="sng" spc="600" dirty="0"/>
              <a:t>CONCLUSION</a:t>
            </a:r>
          </a:p>
          <a:p>
            <a:endParaRPr lang="en-IN" sz="2000" b="1" u="sng" spc="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spc="300" dirty="0"/>
              <a:t>STRONG CUSTOMER BASE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spc="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spc="300" dirty="0"/>
              <a:t>HEALTHY TRANSACTION ECOSYSTEM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spc="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spc="300" dirty="0"/>
              <a:t>ROBUST LOAN PERFORMANCE</a:t>
            </a:r>
          </a:p>
          <a:p>
            <a:r>
              <a:rPr lang="en-US" b="1" spc="3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spc="300" dirty="0"/>
              <a:t>LOW CREDIT RISK 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430FFD-AB86-7372-66AB-E4BEF9E02383}"/>
              </a:ext>
            </a:extLst>
          </p:cNvPr>
          <p:cNvSpPr txBox="1"/>
          <p:nvPr/>
        </p:nvSpPr>
        <p:spPr>
          <a:xfrm>
            <a:off x="5810866" y="1091382"/>
            <a:ext cx="5751871" cy="320087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000" b="1" u="sng" spc="600" dirty="0"/>
              <a:t>CHALLENGES</a:t>
            </a:r>
          </a:p>
          <a:p>
            <a:pPr algn="ctr"/>
            <a:endParaRPr lang="en-IN" sz="2000" b="1" u="sng" spc="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spc="300" dirty="0"/>
              <a:t>DATA CONSISTENCY.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spc="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spc="300" dirty="0"/>
              <a:t>RISK IDENTIFICATION.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spc="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spc="300" dirty="0"/>
              <a:t>CUSTOMER BEHAVIOR ANALYSIS.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spc="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spc="300" dirty="0"/>
              <a:t>PERFORMANCE COMPARISON.</a:t>
            </a:r>
          </a:p>
          <a:p>
            <a:endParaRPr lang="en-US" spc="300" dirty="0"/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A9B3EC-24D9-154D-9ECE-D9972ECA2BDD}"/>
              </a:ext>
            </a:extLst>
          </p:cNvPr>
          <p:cNvSpPr txBox="1"/>
          <p:nvPr/>
        </p:nvSpPr>
        <p:spPr>
          <a:xfrm>
            <a:off x="629263" y="4454573"/>
            <a:ext cx="11257937" cy="203132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u="sng" spc="300" dirty="0"/>
              <a:t>ADDING BUSINESS INSIGHTS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700" b="1" spc="300" dirty="0"/>
              <a:t>CUSTOMER RETENTION ANALYSIS </a:t>
            </a:r>
            <a:r>
              <a:rPr lang="en-IN" sz="1700" spc="300" dirty="0"/>
              <a:t>–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pc="300" dirty="0"/>
              <a:t>Identify low-activity customers and improve customer engagement strategies.</a:t>
            </a:r>
          </a:p>
          <a:p>
            <a:endParaRPr lang="en-IN" b="1" spc="3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700" b="1" spc="300" dirty="0"/>
              <a:t>HIGH RISK CUSTOMER TRACKING </a:t>
            </a:r>
            <a:r>
              <a:rPr lang="en-IN" b="1" spc="300" dirty="0"/>
              <a:t>–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pc="300" dirty="0"/>
              <a:t>Monitor delayed repayment customers to reduce future default risks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29104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544E1-DB36-B93B-44C6-F3E9C5CD29B1}"/>
              </a:ext>
            </a:extLst>
          </p:cNvPr>
          <p:cNvSpPr txBox="1">
            <a:spLocks/>
          </p:cNvSpPr>
          <p:nvPr/>
        </p:nvSpPr>
        <p:spPr>
          <a:xfrm>
            <a:off x="4429432" y="2863722"/>
            <a:ext cx="3333135" cy="83320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i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50822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</TotalTime>
  <Words>2107</Words>
  <Application>Microsoft Office PowerPoint</Application>
  <PresentationFormat>Widescreen</PresentationFormat>
  <Paragraphs>209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Aptos</vt:lpstr>
      <vt:lpstr>Aptos Display</vt:lpstr>
      <vt:lpstr>Arial</vt:lpstr>
      <vt:lpstr>Calibri BOLD</vt:lpstr>
      <vt:lpstr>Calibri Light</vt:lpstr>
      <vt:lpstr>Segoe UI Semibold</vt:lpstr>
      <vt:lpstr>Segoe UI Variable Small</vt:lpstr>
      <vt:lpstr>Wingdings</vt:lpstr>
      <vt:lpstr>Office Theme</vt:lpstr>
      <vt:lpstr>BANK ANALYTICS</vt:lpstr>
      <vt:lpstr>INDEX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BANKING DATA ANALYSIS</vt:lpstr>
      <vt:lpstr>CREDIT &amp; DEBIT DATA ANALYSIS</vt:lpstr>
      <vt:lpstr>CREDIT &amp; DEBIT DATA ANALYSIS</vt:lpstr>
      <vt:lpstr>BANKING KPIs - Insights</vt:lpstr>
      <vt:lpstr>BANKING KPIs - Insights</vt:lpstr>
      <vt:lpstr>BANKING KPIs - Insights</vt:lpstr>
      <vt:lpstr>BANKING KPIs - Insights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CONCLUSION, INSIGHTS &amp; CHALLENGES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LOURDU VASANTHA POLISHETTI</dc:creator>
  <cp:lastModifiedBy>LOURDU VASANTHA POLISHETTI</cp:lastModifiedBy>
  <cp:revision>12</cp:revision>
  <dcterms:created xsi:type="dcterms:W3CDTF">2026-07-07T17:08:07Z</dcterms:created>
  <dcterms:modified xsi:type="dcterms:W3CDTF">2026-07-11T14:09:59Z</dcterms:modified>
</cp:coreProperties>
</file>